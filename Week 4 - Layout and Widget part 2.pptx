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gfmRsv8M9aMYTCYsrdwR0ALCbk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D"/>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3"/>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4"/>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4"/>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4" name="Google Shape;24;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6"/>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6"/>
          <p:cNvSpPr/>
          <p:nvPr>
            <p:ph idx="2" type="pic"/>
          </p:nvPr>
        </p:nvSpPr>
        <p:spPr>
          <a:xfrm>
            <a:off x="1792288" y="459581"/>
            <a:ext cx="5486400" cy="3086100"/>
          </a:xfrm>
          <a:prstGeom prst="rect">
            <a:avLst/>
          </a:prstGeom>
          <a:noFill/>
          <a:ln>
            <a:noFill/>
          </a:ln>
        </p:spPr>
      </p:sp>
      <p:sp>
        <p:nvSpPr>
          <p:cNvPr id="36" name="Google Shape;36;p36"/>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7" name="Google Shape;37;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7"/>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3" name="Google Shape;43;p37"/>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4" name="Google Shape;44;p3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3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38"/>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2" name="Google Shape;52;p38"/>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3" name="Google Shape;53;p3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4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41"/>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1"/>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8" name="Google Shape;68;p41"/>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2"/>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3"/>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3"/>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40" Type="http://schemas.openxmlformats.org/officeDocument/2006/relationships/hyperlink" Target="https://api.flutter.dev/flutter/painting/BorderSide-class.html" TargetMode="External"/><Relationship Id="rId20" Type="http://schemas.openxmlformats.org/officeDocument/2006/relationships/hyperlink" Target="https://api.flutter.dev/flutter/widgets/Icon-class.html" TargetMode="External"/><Relationship Id="rId42" Type="http://schemas.openxmlformats.org/officeDocument/2006/relationships/hyperlink" Target="https://api.flutter.dev/flutter/material/MaterialStateProperty-class.html" TargetMode="External"/><Relationship Id="rId41" Type="http://schemas.openxmlformats.org/officeDocument/2006/relationships/hyperlink" Target="https://api.flutter.dev/flutter/material/ButtonStyle/textStyle.html" TargetMode="External"/><Relationship Id="rId22" Type="http://schemas.openxmlformats.org/officeDocument/2006/relationships/hyperlink" Target="https://api.flutter.dev/flutter/material/MaterialStateProperty-class.html" TargetMode="External"/><Relationship Id="rId44" Type="http://schemas.openxmlformats.org/officeDocument/2006/relationships/hyperlink" Target="https://api.flutter.dev/flutter/widgets/Text-class.html" TargetMode="External"/><Relationship Id="rId21" Type="http://schemas.openxmlformats.org/officeDocument/2006/relationships/hyperlink" Target="https://api.flutter.dev/flutter/material/ButtonStyle/mouseCursor.html" TargetMode="External"/><Relationship Id="rId43" Type="http://schemas.openxmlformats.org/officeDocument/2006/relationships/hyperlink" Target="https://api.flutter.dev/flutter/painting/TextStyle-class.html" TargetMode="External"/><Relationship Id="rId24" Type="http://schemas.openxmlformats.org/officeDocument/2006/relationships/hyperlink" Target="https://api.flutter.dev/flutter/material/ButtonStyle/overlayColor.html" TargetMode="External"/><Relationship Id="rId23" Type="http://schemas.openxmlformats.org/officeDocument/2006/relationships/hyperlink" Target="https://api.flutter.dev/flutter/services/MouseCursor-class.html" TargetMode="External"/><Relationship Id="rId45" Type="http://schemas.openxmlformats.org/officeDocument/2006/relationships/hyperlink" Target="https://api.flutter.dev/flutter/material/ButtonStyle/ButtonStyle.html" TargetMode="External"/><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hyperlink" Target="https://api.flutter.dev/flutter/material/ButtonStyle/alignment.html" TargetMode="External"/><Relationship Id="rId9" Type="http://schemas.openxmlformats.org/officeDocument/2006/relationships/hyperlink" Target="https://api.flutter.dev/flutter/material/ButtonStyle/elevation.html" TargetMode="External"/><Relationship Id="rId26" Type="http://schemas.openxmlformats.org/officeDocument/2006/relationships/hyperlink" Target="https://api.flutter.dev/flutter/dart-ui/Color-class.html" TargetMode="External"/><Relationship Id="rId25" Type="http://schemas.openxmlformats.org/officeDocument/2006/relationships/hyperlink" Target="https://api.flutter.dev/flutter/material/MaterialStateProperty-class.html" TargetMode="External"/><Relationship Id="rId28" Type="http://schemas.openxmlformats.org/officeDocument/2006/relationships/hyperlink" Target="https://api.flutter.dev/flutter/material/MaterialStateProperty-class.html" TargetMode="External"/><Relationship Id="rId27" Type="http://schemas.openxmlformats.org/officeDocument/2006/relationships/hyperlink" Target="https://api.flutter.dev/flutter/material/ButtonStyle/padding.html" TargetMode="External"/><Relationship Id="rId5" Type="http://schemas.openxmlformats.org/officeDocument/2006/relationships/hyperlink" Target="https://api.flutter.dev/flutter/painting/AlignmentGeometry-class.html" TargetMode="External"/><Relationship Id="rId6" Type="http://schemas.openxmlformats.org/officeDocument/2006/relationships/hyperlink" Target="https://api.flutter.dev/flutter/material/ButtonStyle/backgroundColor.html" TargetMode="External"/><Relationship Id="rId29" Type="http://schemas.openxmlformats.org/officeDocument/2006/relationships/hyperlink" Target="https://api.flutter.dev/flutter/painting/EdgeInsetsGeometry-class.html" TargetMode="External"/><Relationship Id="rId7" Type="http://schemas.openxmlformats.org/officeDocument/2006/relationships/hyperlink" Target="https://api.flutter.dev/flutter/material/MaterialStateProperty-class.html" TargetMode="External"/><Relationship Id="rId8" Type="http://schemas.openxmlformats.org/officeDocument/2006/relationships/hyperlink" Target="https://api.flutter.dev/flutter/dart-ui/Color-class.html" TargetMode="External"/><Relationship Id="rId31" Type="http://schemas.openxmlformats.org/officeDocument/2006/relationships/hyperlink" Target="https://api.flutter.dev/flutter/material/MaterialStateProperty-class.html" TargetMode="External"/><Relationship Id="rId30" Type="http://schemas.openxmlformats.org/officeDocument/2006/relationships/hyperlink" Target="https://api.flutter.dev/flutter/material/ButtonStyle/shadowColor.html" TargetMode="External"/><Relationship Id="rId11" Type="http://schemas.openxmlformats.org/officeDocument/2006/relationships/hyperlink" Target="https://api.flutter.dev/flutter/dart-core/double-class.html" TargetMode="External"/><Relationship Id="rId33" Type="http://schemas.openxmlformats.org/officeDocument/2006/relationships/hyperlink" Target="https://api.flutter.dev/flutter/material/Material-class.html" TargetMode="External"/><Relationship Id="rId10" Type="http://schemas.openxmlformats.org/officeDocument/2006/relationships/hyperlink" Target="https://api.flutter.dev/flutter/material/MaterialStateProperty-class.html" TargetMode="External"/><Relationship Id="rId32" Type="http://schemas.openxmlformats.org/officeDocument/2006/relationships/hyperlink" Target="https://api.flutter.dev/flutter/dart-ui/Color-class.html" TargetMode="External"/><Relationship Id="rId13" Type="http://schemas.openxmlformats.org/officeDocument/2006/relationships/hyperlink" Target="https://api.flutter.dev/flutter/material/ButtonStyle/fixedSize.html" TargetMode="External"/><Relationship Id="rId35" Type="http://schemas.openxmlformats.org/officeDocument/2006/relationships/hyperlink" Target="https://api.flutter.dev/flutter/material/MaterialStateProperty-class.html" TargetMode="External"/><Relationship Id="rId12" Type="http://schemas.openxmlformats.org/officeDocument/2006/relationships/hyperlink" Target="https://api.flutter.dev/flutter/material/Material-class.html" TargetMode="External"/><Relationship Id="rId34" Type="http://schemas.openxmlformats.org/officeDocument/2006/relationships/hyperlink" Target="https://api.flutter.dev/flutter/material/ButtonStyle/shape.html" TargetMode="External"/><Relationship Id="rId15" Type="http://schemas.openxmlformats.org/officeDocument/2006/relationships/hyperlink" Target="https://api.flutter.dev/flutter/dart-ui/Size-class.html" TargetMode="External"/><Relationship Id="rId37" Type="http://schemas.openxmlformats.org/officeDocument/2006/relationships/hyperlink" Target="https://api.flutter.dev/flutter/material/Material-class.html" TargetMode="External"/><Relationship Id="rId14" Type="http://schemas.openxmlformats.org/officeDocument/2006/relationships/hyperlink" Target="https://api.flutter.dev/flutter/material/MaterialStateProperty-class.html" TargetMode="External"/><Relationship Id="rId36" Type="http://schemas.openxmlformats.org/officeDocument/2006/relationships/hyperlink" Target="https://api.flutter.dev/flutter/painting/OutlinedBorder-class.html" TargetMode="External"/><Relationship Id="rId17" Type="http://schemas.openxmlformats.org/officeDocument/2006/relationships/hyperlink" Target="https://api.flutter.dev/flutter/material/MaterialStateProperty-class.html" TargetMode="External"/><Relationship Id="rId39" Type="http://schemas.openxmlformats.org/officeDocument/2006/relationships/hyperlink" Target="https://api.flutter.dev/flutter/material/MaterialStateProperty-class.html" TargetMode="External"/><Relationship Id="rId16" Type="http://schemas.openxmlformats.org/officeDocument/2006/relationships/hyperlink" Target="https://api.flutter.dev/flutter/material/ButtonStyle/foregroundColor.html" TargetMode="External"/><Relationship Id="rId38" Type="http://schemas.openxmlformats.org/officeDocument/2006/relationships/hyperlink" Target="https://api.flutter.dev/flutter/material/ButtonStyle/side.html" TargetMode="External"/><Relationship Id="rId19" Type="http://schemas.openxmlformats.org/officeDocument/2006/relationships/hyperlink" Target="https://api.flutter.dev/flutter/widgets/Text-class.html" TargetMode="External"/><Relationship Id="rId18" Type="http://schemas.openxmlformats.org/officeDocument/2006/relationships/hyperlink" Target="https://api.flutter.dev/flutter/dart-ui/Color-clas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6.png"/><Relationship Id="rId5"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8.png"/><Relationship Id="rId5"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hyperlink" Target="https://api.flutter.dev/flutter/material/ElevatedButton/foundation/Key-class.html" TargetMode="External"/><Relationship Id="rId9" Type="http://schemas.openxmlformats.org/officeDocument/2006/relationships/hyperlink" Target="https://api.flutter.dev/flutter/material/ElevatedButton/dart-core/bool-class.html" TargetMode="External"/><Relationship Id="rId5" Type="http://schemas.openxmlformats.org/officeDocument/2006/relationships/hyperlink" Target="https://api.flutter.dev/flutter/material/ElevatedButton/dart-ui/VoidCallback.html" TargetMode="External"/><Relationship Id="rId6" Type="http://schemas.openxmlformats.org/officeDocument/2006/relationships/hyperlink" Target="https://api.flutter.dev/flutter/material/ElevatedButton/dart-ui/VoidCallback.html" TargetMode="External"/><Relationship Id="rId7" Type="http://schemas.openxmlformats.org/officeDocument/2006/relationships/hyperlink" Target="https://api.flutter.dev/flutter/material/ElevatedButton/material/ButtonStyle-class.html" TargetMode="External"/><Relationship Id="rId8" Type="http://schemas.openxmlformats.org/officeDocument/2006/relationships/hyperlink" Target="https://api.flutter.dev/flutter/material/ElevatedButton/widgets/FocusNode-class.html" TargetMode="External"/><Relationship Id="rId11" Type="http://schemas.openxmlformats.org/officeDocument/2006/relationships/hyperlink" Target="https://api.flutter.dev/flutter/material/ElevatedButton/widgets/Widget-class.html" TargetMode="External"/><Relationship Id="rId10" Type="http://schemas.openxmlformats.org/officeDocument/2006/relationships/hyperlink" Target="https://api.flutter.dev/flutter/material/ElevatedButton/dart-ui/Clip-class.html" TargetMode="External"/><Relationship Id="rId12" Type="http://schemas.openxmlformats.org/officeDocument/2006/relationships/hyperlink" Target="https://api.flutter.dev/flutter/material/ElevatedButton/widgets/Widget-clas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4.jp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txBox="1"/>
          <p:nvPr>
            <p:ph type="ctrTitle"/>
          </p:nvPr>
        </p:nvSpPr>
        <p:spPr>
          <a:xfrm>
            <a:off x="685799" y="1597819"/>
            <a:ext cx="8162926" cy="127297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6600"/>
              <a:buFont typeface="Arial"/>
              <a:buNone/>
            </a:pPr>
            <a:r>
              <a:rPr lang="en-ID" sz="6600">
                <a:solidFill>
                  <a:schemeClr val="lt1"/>
                </a:solidFill>
              </a:rPr>
              <a:t>Layout and Widget</a:t>
            </a:r>
            <a:br>
              <a:rPr lang="en-ID" sz="6600">
                <a:solidFill>
                  <a:schemeClr val="lt1"/>
                </a:solidFill>
              </a:rPr>
            </a:br>
            <a:r>
              <a:rPr lang="en-ID" sz="3200">
                <a:solidFill>
                  <a:schemeClr val="lt1"/>
                </a:solidFill>
              </a:rPr>
              <a:t>part 2</a:t>
            </a:r>
            <a:endParaRPr b="1" sz="3200">
              <a:solidFill>
                <a:schemeClr val="lt1"/>
              </a:solidFill>
            </a:endParaRPr>
          </a:p>
        </p:txBody>
      </p:sp>
      <p:sp>
        <p:nvSpPr>
          <p:cNvPr id="90" name="Google Shape;90;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1600"/>
              <a:buNone/>
            </a:pPr>
            <a:r>
              <a:rPr lang="en-ID" sz="1600">
                <a:solidFill>
                  <a:srgbClr val="FFFFFF"/>
                </a:solidFill>
              </a:rPr>
              <a:t>Week 4</a:t>
            </a:r>
            <a:endParaRPr/>
          </a:p>
          <a:p>
            <a:pPr indent="0" lvl="0" marL="0" rtl="0" algn="l">
              <a:lnSpc>
                <a:spcPct val="100000"/>
              </a:lnSpc>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lnSpc>
                <a:spcPct val="100000"/>
              </a:lnSpc>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1" name="Google Shape;91;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lt1"/>
              </a:buClr>
              <a:buSzPts val="1800"/>
              <a:buFont typeface="Arial"/>
              <a:buNone/>
            </a:pPr>
            <a:r>
              <a:rPr b="0" i="0" lang="en-ID" sz="1800" u="none" cap="none" strike="noStrike">
                <a:solidFill>
                  <a:schemeClr val="lt1"/>
                </a:solidFill>
                <a:latin typeface="Arial"/>
                <a:ea typeface="Arial"/>
                <a:cs typeface="Arial"/>
                <a:sym typeface="Arial"/>
              </a:rPr>
              <a:t>Emerging Technology : Flutter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DAE5F1"/>
              </a:buClr>
              <a:buSzPts val="6600"/>
              <a:buFont typeface="Arial"/>
              <a:buNone/>
            </a:pPr>
            <a:r>
              <a:rPr b="1" lang="en-ID" sz="6600">
                <a:solidFill>
                  <a:srgbClr val="DAE5F1"/>
                </a:solidFill>
              </a:rPr>
              <a:t>LIST VIEW</a:t>
            </a:r>
            <a:endParaRPr/>
          </a:p>
        </p:txBody>
      </p:sp>
      <p:sp>
        <p:nvSpPr>
          <p:cNvPr id="97" name="Google Shape;97;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 List View</a:t>
            </a:r>
            <a:endParaRPr/>
          </a:p>
        </p:txBody>
      </p:sp>
      <p:cxnSp>
        <p:nvCxnSpPr>
          <p:cNvPr id="103" name="Google Shape;103;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04" name="Google Shape;104;p3"/>
          <p:cNvSpPr txBox="1"/>
          <p:nvPr>
            <p:ph idx="1" type="body"/>
          </p:nvPr>
        </p:nvSpPr>
        <p:spPr>
          <a:xfrm>
            <a:off x="460375" y="849496"/>
            <a:ext cx="8229600" cy="393625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latin typeface="Arial"/>
                <a:ea typeface="Arial"/>
                <a:cs typeface="Arial"/>
                <a:sym typeface="Arial"/>
              </a:rPr>
              <a:t>A commonly-used scrolling widget to display multiple items (as children)</a:t>
            </a:r>
            <a:endParaRPr/>
          </a:p>
          <a:p>
            <a:pPr indent="0" lvl="0" marL="0" rtl="0" algn="l">
              <a:lnSpc>
                <a:spcPct val="100000"/>
              </a:lnSpc>
              <a:spcBef>
                <a:spcPts val="360"/>
              </a:spcBef>
              <a:spcAft>
                <a:spcPts val="0"/>
              </a:spcAft>
              <a:buClr>
                <a:schemeClr val="dk1"/>
              </a:buClr>
              <a:buSzPts val="1800"/>
              <a:buNone/>
            </a:pPr>
            <a:r>
              <a:rPr lang="en-ID" sz="1800">
                <a:latin typeface="Arial"/>
                <a:ea typeface="Arial"/>
                <a:cs typeface="Arial"/>
                <a:sym typeface="Arial"/>
              </a:rPr>
              <a:t>To construct a </a:t>
            </a:r>
            <a:r>
              <a:rPr b="1" lang="en-ID" sz="1800"/>
              <a:t>ListView</a:t>
            </a:r>
            <a:r>
              <a:rPr lang="en-ID" sz="1800">
                <a:latin typeface="Arial"/>
                <a:ea typeface="Arial"/>
                <a:cs typeface="Arial"/>
                <a:sym typeface="Arial"/>
              </a:rPr>
              <a:t>:</a:t>
            </a:r>
            <a:endParaRPr/>
          </a:p>
          <a:p>
            <a:pPr indent="-342900" lvl="0" marL="342900" rtl="0" algn="l">
              <a:lnSpc>
                <a:spcPct val="100000"/>
              </a:lnSpc>
              <a:spcBef>
                <a:spcPts val="360"/>
              </a:spcBef>
              <a:spcAft>
                <a:spcPts val="0"/>
              </a:spcAft>
              <a:buClr>
                <a:schemeClr val="dk1"/>
              </a:buClr>
              <a:buSzPts val="1800"/>
              <a:buChar char="•"/>
            </a:pPr>
            <a:r>
              <a:rPr lang="en-ID" sz="1800">
                <a:latin typeface="Arial"/>
                <a:ea typeface="Arial"/>
                <a:cs typeface="Arial"/>
                <a:sym typeface="Arial"/>
              </a:rPr>
              <a:t>Use the </a:t>
            </a:r>
            <a:r>
              <a:rPr b="1" lang="en-ID" sz="1800"/>
              <a:t>default constructor</a:t>
            </a:r>
            <a:r>
              <a:rPr lang="en-ID" sz="1800">
                <a:latin typeface="Arial"/>
                <a:ea typeface="Arial"/>
                <a:cs typeface="Arial"/>
                <a:sym typeface="Arial"/>
              </a:rPr>
              <a:t>, passing a </a:t>
            </a:r>
            <a:r>
              <a:rPr lang="en-ID" sz="1800">
                <a:latin typeface="Consolas"/>
                <a:ea typeface="Consolas"/>
                <a:cs typeface="Consolas"/>
                <a:sym typeface="Consolas"/>
              </a:rPr>
              <a:t>List&lt;Widget&gt;</a:t>
            </a:r>
            <a:r>
              <a:rPr lang="en-ID" sz="1800">
                <a:latin typeface="Arial"/>
                <a:ea typeface="Arial"/>
                <a:cs typeface="Arial"/>
                <a:sym typeface="Arial"/>
              </a:rPr>
              <a:t> as its children</a:t>
            </a:r>
            <a:endParaRPr/>
          </a:p>
          <a:p>
            <a:pPr indent="-285750" lvl="1" marL="742950" rtl="0" algn="l">
              <a:lnSpc>
                <a:spcPct val="100000"/>
              </a:lnSpc>
              <a:spcBef>
                <a:spcPts val="280"/>
              </a:spcBef>
              <a:spcAft>
                <a:spcPts val="0"/>
              </a:spcAft>
              <a:buClr>
                <a:schemeClr val="dk1"/>
              </a:buClr>
              <a:buSzPts val="1400"/>
              <a:buChar char="–"/>
            </a:pPr>
            <a:r>
              <a:rPr lang="en-ID" sz="1400">
                <a:latin typeface="Arial"/>
                <a:ea typeface="Arial"/>
                <a:cs typeface="Arial"/>
                <a:sym typeface="Arial"/>
              </a:rPr>
              <a:t>This constructor is appropriate for a </a:t>
            </a:r>
            <a:r>
              <a:rPr b="1" lang="en-ID" sz="1400"/>
              <a:t>small list of items</a:t>
            </a:r>
            <a:endParaRPr b="1"/>
          </a:p>
          <a:p>
            <a:pPr indent="-285750" lvl="1" marL="742950" rtl="0" algn="l">
              <a:lnSpc>
                <a:spcPct val="100000"/>
              </a:lnSpc>
              <a:spcBef>
                <a:spcPts val="280"/>
              </a:spcBef>
              <a:spcAft>
                <a:spcPts val="0"/>
              </a:spcAft>
              <a:buClr>
                <a:schemeClr val="dk1"/>
              </a:buClr>
              <a:buSzPts val="1400"/>
              <a:buChar char="–"/>
            </a:pPr>
            <a:r>
              <a:rPr lang="en-ID" sz="1400">
                <a:latin typeface="Arial"/>
                <a:ea typeface="Arial"/>
                <a:cs typeface="Arial"/>
                <a:sym typeface="Arial"/>
              </a:rPr>
              <a:t>Constructing the List requires working on each item, even if they may not initially appear on screen</a:t>
            </a:r>
            <a:endParaRPr/>
          </a:p>
          <a:p>
            <a:pPr indent="-342900" lvl="0" marL="342900" rtl="0" algn="l">
              <a:lnSpc>
                <a:spcPct val="100000"/>
              </a:lnSpc>
              <a:spcBef>
                <a:spcPts val="360"/>
              </a:spcBef>
              <a:spcAft>
                <a:spcPts val="0"/>
              </a:spcAft>
              <a:buClr>
                <a:schemeClr val="dk1"/>
              </a:buClr>
              <a:buSzPts val="1800"/>
              <a:buChar char="•"/>
            </a:pPr>
            <a:r>
              <a:rPr lang="en-ID" sz="1800">
                <a:latin typeface="Arial"/>
                <a:ea typeface="Arial"/>
                <a:cs typeface="Arial"/>
                <a:sym typeface="Arial"/>
              </a:rPr>
              <a:t>Use </a:t>
            </a:r>
            <a:r>
              <a:rPr b="1" lang="en-ID" sz="1800">
                <a:latin typeface="Consolas"/>
                <a:ea typeface="Consolas"/>
                <a:cs typeface="Consolas"/>
                <a:sym typeface="Consolas"/>
              </a:rPr>
              <a:t>ListView.builder()</a:t>
            </a:r>
            <a:r>
              <a:rPr lang="en-ID" sz="1800">
                <a:latin typeface="Arial"/>
                <a:ea typeface="Arial"/>
                <a:cs typeface="Arial"/>
                <a:sym typeface="Arial"/>
              </a:rPr>
              <a:t> constructor for </a:t>
            </a:r>
            <a:r>
              <a:rPr b="1" lang="en-ID" sz="1800"/>
              <a:t>larger (or infinite)</a:t>
            </a:r>
            <a:r>
              <a:rPr lang="en-ID" sz="1800">
                <a:latin typeface="Arial"/>
                <a:ea typeface="Arial"/>
                <a:cs typeface="Arial"/>
                <a:sym typeface="Arial"/>
              </a:rPr>
              <a:t> number of items</a:t>
            </a:r>
            <a:endParaRPr/>
          </a:p>
          <a:p>
            <a:pPr indent="-285750" lvl="1" marL="742950" rtl="0" algn="l">
              <a:lnSpc>
                <a:spcPct val="100000"/>
              </a:lnSpc>
              <a:spcBef>
                <a:spcPts val="280"/>
              </a:spcBef>
              <a:spcAft>
                <a:spcPts val="0"/>
              </a:spcAft>
              <a:buClr>
                <a:schemeClr val="dk1"/>
              </a:buClr>
              <a:buSzPts val="1400"/>
              <a:buChar char="–"/>
            </a:pPr>
            <a:r>
              <a:rPr lang="en-ID" sz="1400">
                <a:latin typeface="Arial"/>
                <a:ea typeface="Arial"/>
                <a:cs typeface="Arial"/>
                <a:sym typeface="Arial"/>
              </a:rPr>
              <a:t>The builder is called only for items that are visible on screen</a:t>
            </a:r>
            <a:endParaRPr/>
          </a:p>
        </p:txBody>
      </p:sp>
      <p:sp>
        <p:nvSpPr>
          <p:cNvPr descr="Google's Flutter framework spreads its wings and goes multi-platform |  TechCrunch" id="105" name="Google Shape;105;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 Preparation</a:t>
            </a:r>
            <a:endParaRPr/>
          </a:p>
        </p:txBody>
      </p:sp>
      <p:cxnSp>
        <p:nvCxnSpPr>
          <p:cNvPr id="111" name="Google Shape;111;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12" name="Google Shape;112;p4"/>
          <p:cNvSpPr txBox="1"/>
          <p:nvPr>
            <p:ph idx="1" type="body"/>
          </p:nvPr>
        </p:nvSpPr>
        <p:spPr>
          <a:xfrm>
            <a:off x="460375" y="849496"/>
            <a:ext cx="8229600" cy="393625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t>Let’s show several food recipes in list of cards that consist of the food name, its photo, and its recipe.</a:t>
            </a:r>
            <a:endParaRPr/>
          </a:p>
          <a:p>
            <a:pPr indent="0" lvl="0" marL="0" rtl="0" algn="l">
              <a:lnSpc>
                <a:spcPct val="100000"/>
              </a:lnSpc>
              <a:spcBef>
                <a:spcPts val="360"/>
              </a:spcBef>
              <a:spcAft>
                <a:spcPts val="0"/>
              </a:spcAft>
              <a:buClr>
                <a:schemeClr val="dk1"/>
              </a:buClr>
              <a:buSzPts val="1800"/>
              <a:buNone/>
            </a:pPr>
            <a:r>
              <a:rPr lang="en-ID" sz="1800"/>
              <a:t>The data are in form of array of objects. Later, after learning about database and web service, we’ll move this data into database.</a:t>
            </a:r>
            <a:endParaRPr/>
          </a:p>
          <a:p>
            <a:pPr indent="0" lvl="0" marL="0" rtl="0" algn="l">
              <a:lnSpc>
                <a:spcPct val="100000"/>
              </a:lnSpc>
              <a:spcBef>
                <a:spcPts val="360"/>
              </a:spcBef>
              <a:spcAft>
                <a:spcPts val="0"/>
              </a:spcAft>
              <a:buClr>
                <a:schemeClr val="dk1"/>
              </a:buClr>
              <a:buSzPts val="1800"/>
              <a:buNone/>
            </a:pPr>
            <a:r>
              <a:rPr lang="en-ID" sz="1800"/>
              <a:t>Add class declaration on </a:t>
            </a:r>
            <a:r>
              <a:rPr b="1" lang="en-ID" sz="1800"/>
              <a:t>basket.dart</a:t>
            </a:r>
            <a:r>
              <a:rPr lang="en-ID" sz="1800"/>
              <a:t> </a:t>
            </a:r>
            <a:r>
              <a:rPr lang="en-ID" sz="1800" u="sng"/>
              <a:t>outside of any classes</a:t>
            </a:r>
            <a:r>
              <a:rPr lang="en-ID" sz="1800"/>
              <a:t>:</a:t>
            </a:r>
            <a:endParaRPr/>
          </a:p>
          <a:p>
            <a:pPr indent="0" lvl="0" marL="0" rtl="0" algn="l">
              <a:lnSpc>
                <a:spcPct val="100000"/>
              </a:lnSpc>
              <a:spcBef>
                <a:spcPts val="360"/>
              </a:spcBef>
              <a:spcAft>
                <a:spcPts val="0"/>
              </a:spcAft>
              <a:buClr>
                <a:schemeClr val="dk1"/>
              </a:buClr>
              <a:buSzPts val="1800"/>
              <a:buNone/>
            </a:pPr>
            <a:r>
              <a:t/>
            </a:r>
            <a:endParaRPr sz="1800"/>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class Recipe {</a:t>
            </a:r>
            <a:endParaRPr/>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int id;</a:t>
            </a:r>
            <a:endParaRPr/>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name;</a:t>
            </a:r>
            <a:endParaRPr/>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photo;</a:t>
            </a:r>
            <a:endParaRPr/>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desc;</a:t>
            </a:r>
            <a:endParaRPr/>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Recipe({required this.id, required this.name,required this.photo,</a:t>
            </a:r>
            <a:endParaRPr/>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required this.desc});</a:t>
            </a:r>
            <a:endParaRPr/>
          </a:p>
          <a:p>
            <a:pPr indent="0" lvl="0" marL="0" rtl="0" algn="l">
              <a:lnSpc>
                <a:spcPct val="100000"/>
              </a:lnSpc>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a:t>
            </a:r>
            <a:endParaRPr sz="1800"/>
          </a:p>
        </p:txBody>
      </p:sp>
      <p:sp>
        <p:nvSpPr>
          <p:cNvPr descr="Google's Flutter framework spreads its wings and goes multi-platform |  TechCrunch" id="113" name="Google Shape;113;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 name="Google Shape;114;p4"/>
          <p:cNvSpPr txBox="1"/>
          <p:nvPr/>
        </p:nvSpPr>
        <p:spPr>
          <a:xfrm>
            <a:off x="3393686" y="2616985"/>
            <a:ext cx="4620323" cy="738664"/>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lt1"/>
                </a:solidFill>
                <a:latin typeface="Consolas"/>
                <a:ea typeface="Consolas"/>
                <a:cs typeface="Consolas"/>
                <a:sym typeface="Consolas"/>
              </a:rPr>
              <a:t>required</a:t>
            </a:r>
            <a:r>
              <a:rPr b="0" i="0" lang="en-ID" sz="1400" u="none" cap="none" strike="noStrike">
                <a:solidFill>
                  <a:schemeClr val="lt1"/>
                </a:solidFill>
                <a:latin typeface="Arial"/>
                <a:ea typeface="Arial"/>
                <a:cs typeface="Arial"/>
                <a:sym typeface="Arial"/>
              </a:rPr>
              <a:t> means this field may not be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lt1"/>
                </a:solidFill>
                <a:latin typeface="Arial"/>
                <a:ea typeface="Arial"/>
                <a:cs typeface="Arial"/>
                <a:sym typeface="Arial"/>
              </a:rPr>
              <a:t>If it is not required, either provide default value or make it nullable</a:t>
            </a:r>
            <a:endParaRPr b="0" i="0" sz="1400" u="none" cap="none" strike="noStrike">
              <a:solidFill>
                <a:schemeClr val="lt1"/>
              </a:solidFill>
              <a:latin typeface="Arial"/>
              <a:ea typeface="Arial"/>
              <a:cs typeface="Arial"/>
              <a:sym typeface="Arial"/>
            </a:endParaRPr>
          </a:p>
        </p:txBody>
      </p:sp>
      <p:cxnSp>
        <p:nvCxnSpPr>
          <p:cNvPr id="115" name="Google Shape;115;p4"/>
          <p:cNvCxnSpPr>
            <a:stCxn id="114" idx="2"/>
          </p:cNvCxnSpPr>
          <p:nvPr/>
        </p:nvCxnSpPr>
        <p:spPr>
          <a:xfrm flipH="1">
            <a:off x="3873248" y="3355649"/>
            <a:ext cx="1830600" cy="6588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Sample data</a:t>
            </a:r>
            <a:endParaRPr/>
          </a:p>
        </p:txBody>
      </p:sp>
      <p:cxnSp>
        <p:nvCxnSpPr>
          <p:cNvPr id="121" name="Google Shape;121;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22" name="Google Shape;122;p5"/>
          <p:cNvSpPr txBox="1"/>
          <p:nvPr>
            <p:ph idx="1" type="body"/>
          </p:nvPr>
        </p:nvSpPr>
        <p:spPr>
          <a:xfrm>
            <a:off x="460375" y="643630"/>
            <a:ext cx="8229600" cy="432988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0000"/>
              </a:buClr>
              <a:buSzPts val="900"/>
              <a:buNone/>
            </a:pPr>
            <a:r>
              <a:rPr lang="en-ID" sz="900">
                <a:solidFill>
                  <a:srgbClr val="FF0000"/>
                </a:solidFill>
                <a:latin typeface="Consolas"/>
                <a:ea typeface="Consolas"/>
                <a:cs typeface="Consolas"/>
                <a:sym typeface="Consolas"/>
              </a:rPr>
              <a:t>var recipes = &lt;Recipe&gt;[];</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Basket({super.key})</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recipes.add( Recipe(</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id: 1,</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name: 'Rujak Cingur',</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photo: 'https://www.astronauts.id/blog/wp-content/uploads/2023/12/rujak-cingur-makanan-khas-daerah-jawa-timur.jpg',</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desc: 'Rujak Cingur, makanan khas Surabaya, menjadi unik dengan menggunakan cingur (mulut sapi) sebagai bahan utama.',</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recipes.add( Recipe(</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id: 2,</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name: 'Nasi Gudeg',</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photo: 'https://www.astronauts.id/blog/wp-content/uploads/2023/12/nasi-gudeg-makanan-khas-daerah-DI-Jogjakarta.jpg',</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desc: 'Nasi Gudeg, kuliner khas Jogja, merupakan olahan nangka muda yang dimasak dengan santan.',</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recipes.add( Recipe(</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id: 3,</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name: 'Palumara',</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photo: 'https://www.astronauts.id/blog/wp-content/uploads/2023/12/palumara-makanan-khas-daerah-sulawesi-tengah.jpg',</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desc: 'Palumara, sup ikan khas Sulawesi Tengah, adalah perpaduan citarasa pedas dan asam yang menggoda selera.',</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lnSpc>
                <a:spcPct val="100000"/>
              </a:lnSpc>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p:txBody>
      </p:sp>
      <p:sp>
        <p:nvSpPr>
          <p:cNvPr descr="Google's Flutter framework spreads its wings and goes multi-platform |  TechCrunch" id="123" name="Google Shape;123;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5"/>
          <p:cNvSpPr txBox="1"/>
          <p:nvPr/>
        </p:nvSpPr>
        <p:spPr>
          <a:xfrm>
            <a:off x="3690289" y="576943"/>
            <a:ext cx="530798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chemeClr val="dk1"/>
                </a:solidFill>
                <a:latin typeface="Arial"/>
                <a:ea typeface="Arial"/>
                <a:cs typeface="Arial"/>
                <a:sym typeface="Arial"/>
              </a:rPr>
              <a:t>Put the recipes var as a member of Basket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chemeClr val="dk1"/>
                </a:solidFill>
                <a:latin typeface="Arial"/>
                <a:ea typeface="Arial"/>
                <a:cs typeface="Arial"/>
                <a:sym typeface="Arial"/>
              </a:rPr>
              <a:t>To add the data, you may create/change the constructor. And remove </a:t>
            </a:r>
            <a:r>
              <a:rPr b="1" i="0" lang="en-ID" sz="1200" u="none" cap="none" strike="noStrike">
                <a:solidFill>
                  <a:schemeClr val="dk1"/>
                </a:solidFill>
                <a:latin typeface="Arial"/>
                <a:ea typeface="Arial"/>
                <a:cs typeface="Arial"/>
                <a:sym typeface="Arial"/>
              </a:rPr>
              <a:t>const</a:t>
            </a:r>
            <a:r>
              <a:rPr b="0" i="0" lang="en-ID" sz="1200" u="none" cap="none" strike="noStrike">
                <a:solidFill>
                  <a:schemeClr val="dk1"/>
                </a:solidFill>
                <a:latin typeface="Arial"/>
                <a:ea typeface="Arial"/>
                <a:cs typeface="Arial"/>
                <a:sym typeface="Arial"/>
              </a:rPr>
              <a:t> in route</a:t>
            </a:r>
            <a:endParaRPr b="0" i="0" sz="1200" u="none" cap="none" strike="noStrike">
              <a:solidFill>
                <a:schemeClr val="dk1"/>
              </a:solidFill>
              <a:latin typeface="Arial"/>
              <a:ea typeface="Arial"/>
              <a:cs typeface="Arial"/>
              <a:sym typeface="Arial"/>
            </a:endParaRPr>
          </a:p>
        </p:txBody>
      </p:sp>
      <p:pic>
        <p:nvPicPr>
          <p:cNvPr id="125" name="Google Shape;125;p5"/>
          <p:cNvPicPr preferRelativeResize="0"/>
          <p:nvPr/>
        </p:nvPicPr>
        <p:blipFill>
          <a:blip r:embed="rId4">
            <a:alphaModFix/>
          </a:blip>
          <a:stretch>
            <a:fillRect/>
          </a:stretch>
        </p:blipFill>
        <p:spPr>
          <a:xfrm>
            <a:off x="5151922" y="1015575"/>
            <a:ext cx="3217379" cy="576950"/>
          </a:xfrm>
          <a:prstGeom prst="rect">
            <a:avLst/>
          </a:prstGeom>
          <a:noFill/>
          <a:ln>
            <a:noFill/>
          </a:ln>
        </p:spPr>
      </p:pic>
      <p:sp>
        <p:nvSpPr>
          <p:cNvPr id="126" name="Google Shape;126;p5"/>
          <p:cNvSpPr/>
          <p:nvPr/>
        </p:nvSpPr>
        <p:spPr>
          <a:xfrm>
            <a:off x="7220675" y="1183375"/>
            <a:ext cx="348300" cy="409200"/>
          </a:xfrm>
          <a:prstGeom prst="ellipse">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List widget function</a:t>
            </a:r>
            <a:endParaRPr/>
          </a:p>
        </p:txBody>
      </p:sp>
      <p:cxnSp>
        <p:nvCxnSpPr>
          <p:cNvPr id="132" name="Google Shape;132;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33" name="Google Shape;133;p6"/>
          <p:cNvSpPr txBox="1"/>
          <p:nvPr>
            <p:ph idx="1" type="body"/>
          </p:nvPr>
        </p:nvSpPr>
        <p:spPr>
          <a:xfrm>
            <a:off x="460375" y="849496"/>
            <a:ext cx="8229600" cy="393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0000"/>
              </a:buClr>
              <a:buSzPts val="1600"/>
              <a:buNone/>
            </a:pPr>
            <a:r>
              <a:rPr lang="en-ID" sz="1600">
                <a:solidFill>
                  <a:srgbClr val="FF0000"/>
                </a:solidFill>
                <a:latin typeface="Consolas"/>
                <a:ea typeface="Consolas"/>
                <a:cs typeface="Consolas"/>
                <a:sym typeface="Consolas"/>
              </a:rPr>
              <a:t>List&lt;Widget&gt; widRecipes() {</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List&lt;Widget&gt; temp = [];</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int i = 0;</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while (i &lt; recipes.length) {</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Widget w = Card(child: Text(recipes[i].name));</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temp.add(w);</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i++;</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return temp;</a:t>
            </a:r>
            <a:endParaRPr/>
          </a:p>
          <a:p>
            <a:pPr indent="0" lvl="0" marL="0" rtl="0" algn="l">
              <a:lnSpc>
                <a:spcPct val="100000"/>
              </a:lnSpc>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a:t>
            </a:r>
            <a:endParaRPr/>
          </a:p>
        </p:txBody>
      </p:sp>
      <p:sp>
        <p:nvSpPr>
          <p:cNvPr descr="Google's Flutter framework spreads its wings and goes multi-platform |  TechCrunch" id="134" name="Google Shape;134;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5" name="Google Shape;135;p6"/>
          <p:cNvSpPr txBox="1"/>
          <p:nvPr/>
        </p:nvSpPr>
        <p:spPr>
          <a:xfrm>
            <a:off x="3988526" y="3143793"/>
            <a:ext cx="4563291" cy="1200329"/>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D" sz="1800" u="none" cap="none" strike="noStrike">
                <a:solidFill>
                  <a:schemeClr val="dk1"/>
                </a:solidFill>
                <a:latin typeface="Arial"/>
                <a:ea typeface="Arial"/>
                <a:cs typeface="Arial"/>
                <a:sym typeface="Arial"/>
              </a:rPr>
              <a:t>We just display the name of the recipe first. Next after it can be shown in the ListView, we will fix it by adding photo and description</a:t>
            </a:r>
            <a:endParaRPr b="0" i="0" sz="1400" u="none" cap="none" strike="noStrike">
              <a:solidFill>
                <a:srgbClr val="000000"/>
              </a:solidFill>
              <a:latin typeface="Arial"/>
              <a:ea typeface="Arial"/>
              <a:cs typeface="Arial"/>
              <a:sym typeface="Arial"/>
            </a:endParaRPr>
          </a:p>
        </p:txBody>
      </p:sp>
      <p:sp>
        <p:nvSpPr>
          <p:cNvPr id="136" name="Google Shape;136;p6"/>
          <p:cNvSpPr txBox="1"/>
          <p:nvPr/>
        </p:nvSpPr>
        <p:spPr>
          <a:xfrm>
            <a:off x="3988525" y="784554"/>
            <a:ext cx="45632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D" sz="1800" u="none" cap="none" strike="noStrike">
                <a:solidFill>
                  <a:schemeClr val="dk1"/>
                </a:solidFill>
                <a:latin typeface="Arial"/>
                <a:ea typeface="Arial"/>
                <a:cs typeface="Arial"/>
                <a:sym typeface="Arial"/>
              </a:rPr>
              <a:t>Put this function inside the Basket class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The ListView</a:t>
            </a:r>
            <a:endParaRPr b="1" sz="3600">
              <a:solidFill>
                <a:srgbClr val="000090"/>
              </a:solidFill>
            </a:endParaRPr>
          </a:p>
        </p:txBody>
      </p:sp>
      <p:cxnSp>
        <p:nvCxnSpPr>
          <p:cNvPr id="142" name="Google Shape;142;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43" name="Google Shape;143;p7"/>
          <p:cNvSpPr txBox="1"/>
          <p:nvPr>
            <p:ph idx="1" type="body"/>
          </p:nvPr>
        </p:nvSpPr>
        <p:spPr>
          <a:xfrm>
            <a:off x="460375" y="849496"/>
            <a:ext cx="8229600" cy="393625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0000"/>
              </a:buClr>
              <a:buSzPts val="1100"/>
              <a:buNone/>
            </a:pPr>
            <a:r>
              <a:rPr lang="en-ID" sz="1100">
                <a:solidFill>
                  <a:srgbClr val="FF0000"/>
                </a:solidFill>
                <a:latin typeface="Consolas"/>
                <a:ea typeface="Consolas"/>
                <a:cs typeface="Consolas"/>
                <a:sym typeface="Consolas"/>
              </a:rPr>
              <a:t>body: </a:t>
            </a:r>
            <a:r>
              <a:rPr lang="en-ID" sz="1100">
                <a:solidFill>
                  <a:schemeClr val="accent1"/>
                </a:solidFill>
                <a:latin typeface="Consolas"/>
                <a:ea typeface="Consolas"/>
                <a:cs typeface="Consolas"/>
                <a:sym typeface="Consolas"/>
              </a:rPr>
              <a:t>SingleChildScrollView</a:t>
            </a:r>
            <a:r>
              <a:rPr lang="en-ID" sz="1100">
                <a:solidFill>
                  <a:srgbClr val="FF0000"/>
                </a:solidFill>
                <a:latin typeface="Consolas"/>
                <a:ea typeface="Consolas"/>
                <a:cs typeface="Consolas"/>
                <a:sym typeface="Consolas"/>
              </a:rPr>
              <a:t>(</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child: Column(children: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Text("Your basket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ListView(</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shrinkWrap: true,</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physics: NeverScrollableScrollPhysics(),</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children: widRecipes(),</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Divider(</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height: 100,</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a:t>
            </a:r>
            <a:endParaRPr/>
          </a:p>
        </p:txBody>
      </p:sp>
      <p:sp>
        <p:nvSpPr>
          <p:cNvPr descr="Google's Flutter framework spreads its wings and goes multi-platform |  TechCrunch" id="144" name="Google Shape;144;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 name="Google Shape;145;p7"/>
          <p:cNvSpPr txBox="1"/>
          <p:nvPr/>
        </p:nvSpPr>
        <p:spPr>
          <a:xfrm>
            <a:off x="5068389" y="1153886"/>
            <a:ext cx="1741714" cy="2308324"/>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D" sz="1800" u="none" cap="none" strike="noStrike">
                <a:solidFill>
                  <a:schemeClr val="dk1"/>
                </a:solidFill>
                <a:latin typeface="Arial"/>
                <a:ea typeface="Arial"/>
                <a:cs typeface="Arial"/>
                <a:sym typeface="Arial"/>
              </a:rPr>
              <a:t>Modify the widRecipes() function so it can produce better appearance, like shown here :</a:t>
            </a:r>
            <a:endParaRPr b="0" i="0" sz="1400" u="none" cap="none" strike="noStrike">
              <a:solidFill>
                <a:srgbClr val="000000"/>
              </a:solidFill>
              <a:latin typeface="Arial"/>
              <a:ea typeface="Arial"/>
              <a:cs typeface="Arial"/>
              <a:sym typeface="Arial"/>
            </a:endParaRPr>
          </a:p>
        </p:txBody>
      </p:sp>
      <p:pic>
        <p:nvPicPr>
          <p:cNvPr id="146" name="Google Shape;146;p7"/>
          <p:cNvPicPr preferRelativeResize="0"/>
          <p:nvPr/>
        </p:nvPicPr>
        <p:blipFill rotWithShape="1">
          <a:blip r:embed="rId4">
            <a:alphaModFix/>
          </a:blip>
          <a:srcRect b="0" l="0" r="0" t="0"/>
          <a:stretch/>
        </p:blipFill>
        <p:spPr>
          <a:xfrm>
            <a:off x="6874751" y="849496"/>
            <a:ext cx="2270428" cy="40230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sp>
        <p:nvSpPr>
          <p:cNvPr id="151" name="Google Shape;151;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ShadowGenerator	</a:t>
            </a:r>
            <a:endParaRPr/>
          </a:p>
        </p:txBody>
      </p:sp>
      <p:cxnSp>
        <p:nvCxnSpPr>
          <p:cNvPr id="152" name="Google Shape;152;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53" name="Google Shape;153;p8"/>
          <p:cNvSpPr txBox="1"/>
          <p:nvPr>
            <p:ph idx="1" type="body"/>
          </p:nvPr>
        </p:nvSpPr>
        <p:spPr>
          <a:xfrm>
            <a:off x="307975" y="888172"/>
            <a:ext cx="8151997" cy="37756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1400"/>
              <a:buChar char="•"/>
            </a:pPr>
            <a:r>
              <a:rPr lang="en-ID" sz="1400">
                <a:latin typeface="Calibri"/>
                <a:ea typeface="Calibri"/>
                <a:cs typeface="Calibri"/>
                <a:sym typeface="Calibri"/>
              </a:rPr>
              <a:t>A helpful website for generating box shadow properties can be found at: </a:t>
            </a:r>
            <a:br>
              <a:rPr lang="en-ID" sz="1400">
                <a:latin typeface="Calibri"/>
                <a:ea typeface="Calibri"/>
                <a:cs typeface="Calibri"/>
                <a:sym typeface="Calibri"/>
              </a:rPr>
            </a:br>
            <a:r>
              <a:rPr lang="en-ID" sz="1400">
                <a:latin typeface="Calibri"/>
                <a:ea typeface="Calibri"/>
                <a:cs typeface="Calibri"/>
                <a:sym typeface="Calibri"/>
              </a:rPr>
              <a:t>https://shadow-generator-mobile.vercel.app/#editor</a:t>
            </a:r>
            <a:endParaRPr/>
          </a:p>
        </p:txBody>
      </p:sp>
      <p:sp>
        <p:nvSpPr>
          <p:cNvPr descr="Google's Flutter framework spreads its wings and goes multi-platform |  TechCrunch" id="154" name="Google Shape;154;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55" name="Google Shape;155;p8"/>
          <p:cNvPicPr preferRelativeResize="0"/>
          <p:nvPr/>
        </p:nvPicPr>
        <p:blipFill rotWithShape="1">
          <a:blip r:embed="rId4">
            <a:alphaModFix/>
          </a:blip>
          <a:srcRect b="0" l="0" r="0" t="0"/>
          <a:stretch/>
        </p:blipFill>
        <p:spPr>
          <a:xfrm>
            <a:off x="1198452" y="1557196"/>
            <a:ext cx="6814020" cy="32461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Answers	</a:t>
            </a:r>
            <a:endParaRPr/>
          </a:p>
        </p:txBody>
      </p:sp>
      <p:cxnSp>
        <p:nvCxnSpPr>
          <p:cNvPr id="161" name="Google Shape;161;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62" name="Google Shape;162;p9"/>
          <p:cNvSpPr txBox="1"/>
          <p:nvPr>
            <p:ph idx="1" type="body"/>
          </p:nvPr>
        </p:nvSpPr>
        <p:spPr>
          <a:xfrm>
            <a:off x="307975" y="888172"/>
            <a:ext cx="8151997" cy="37756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0000"/>
              </a:buClr>
              <a:buSzPts val="1050"/>
              <a:buNone/>
            </a:pPr>
            <a:r>
              <a:rPr lang="en-ID" sz="1050">
                <a:solidFill>
                  <a:srgbClr val="FF0000"/>
                </a:solidFill>
                <a:latin typeface="Consolas"/>
                <a:ea typeface="Consolas"/>
                <a:cs typeface="Consolas"/>
                <a:sym typeface="Consolas"/>
              </a:rPr>
              <a:t>List&lt;Widget&gt; widRecipes() {</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List&lt;Widget&gt; temp = [];</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int i = 0;</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while (i &lt; recipes.length) {</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Widget w = Container(</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margin:const EdgeInsets.all(15),</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decoration: BoxDecoration(</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boxShadow: [</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BoxShadow(</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color: Color.fromRGBO(128, 128, 128, 0.5),</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spreadRadius: -6,</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blurRadius: 8,</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offset: const Offset(8, 7),</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a:t>
            </a:r>
            <a:endParaRPr/>
          </a:p>
          <a:p>
            <a:pPr indent="0" lvl="0" marL="0" rtl="0" algn="l">
              <a:lnSpc>
                <a:spcPct val="100000"/>
              </a:lnSpc>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a:t>
            </a:r>
            <a:endParaRPr/>
          </a:p>
        </p:txBody>
      </p:sp>
      <p:sp>
        <p:nvSpPr>
          <p:cNvPr descr="Google's Flutter framework spreads its wings and goes multi-platform |  TechCrunch" id="163" name="Google Shape;163;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4" name="Google Shape;164;p9"/>
          <p:cNvSpPr txBox="1"/>
          <p:nvPr/>
        </p:nvSpPr>
        <p:spPr>
          <a:xfrm>
            <a:off x="4659086" y="729289"/>
            <a:ext cx="4407916" cy="4093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child: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Card(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child: Column(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children: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Container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margin: const EdgeInsets.all(15),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child: Text(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recipes[i].name,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style: const TextStyle(fontSize: 16,fontWeight: FontWeight.bold),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Image.network(recipes[i].photo),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Container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margin: const EdgeInsets.all(20),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child: Text(recipes[i].desc),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temp.add(w);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return temp;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000"/>
              <a:buFont typeface="Consolas"/>
              <a:buNone/>
            </a:pPr>
            <a:r>
              <a:rPr b="0" i="0" lang="en-ID" sz="1000" u="none" cap="none" strike="noStrike">
                <a:solidFill>
                  <a:srgbClr val="FF0000"/>
                </a:solidFill>
                <a:latin typeface="Consolas"/>
                <a:ea typeface="Consolas"/>
                <a:cs typeface="Consolas"/>
                <a:sym typeface="Consolas"/>
              </a:rPr>
              <a:t>  }</a:t>
            </a:r>
            <a:endParaRPr b="0" i="0" sz="1000" u="none" cap="none" strike="noStrike">
              <a:solidFill>
                <a:srgbClr val="FF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0"/>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DAE5F1"/>
              </a:buClr>
              <a:buSzPts val="6000"/>
              <a:buFont typeface="Arial"/>
              <a:buNone/>
            </a:pPr>
            <a:r>
              <a:rPr b="1" lang="en-ID" sz="6000">
                <a:solidFill>
                  <a:srgbClr val="DAE5F1"/>
                </a:solidFill>
              </a:rPr>
              <a:t>TEXTFIELD</a:t>
            </a:r>
            <a:endParaRPr b="1" sz="6000">
              <a:solidFill>
                <a:srgbClr val="DAE5F1"/>
              </a:solidFill>
            </a:endParaRPr>
          </a:p>
        </p:txBody>
      </p:sp>
      <p:sp>
        <p:nvSpPr>
          <p:cNvPr id="170" name="Google Shape;170;p10"/>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1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TextField	</a:t>
            </a:r>
            <a:endParaRPr/>
          </a:p>
        </p:txBody>
      </p:sp>
      <p:cxnSp>
        <p:nvCxnSpPr>
          <p:cNvPr id="176" name="Google Shape;176;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77" name="Google Shape;177;p11"/>
          <p:cNvSpPr txBox="1"/>
          <p:nvPr>
            <p:ph idx="1" type="body"/>
          </p:nvPr>
        </p:nvSpPr>
        <p:spPr>
          <a:xfrm>
            <a:off x="307975" y="888172"/>
            <a:ext cx="8151997" cy="37756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1600"/>
              <a:buChar char="•"/>
            </a:pPr>
            <a:r>
              <a:rPr lang="en-ID" sz="1600">
                <a:latin typeface="Calibri"/>
                <a:ea typeface="Calibri"/>
                <a:cs typeface="Calibri"/>
                <a:sym typeface="Calibri"/>
              </a:rPr>
              <a:t>A Material Design text field</a:t>
            </a:r>
            <a:endParaRPr/>
          </a:p>
          <a:p>
            <a:pPr indent="-342900" lvl="0" marL="342900" rtl="0" algn="l">
              <a:lnSpc>
                <a:spcPct val="100000"/>
              </a:lnSpc>
              <a:spcBef>
                <a:spcPts val="320"/>
              </a:spcBef>
              <a:spcAft>
                <a:spcPts val="0"/>
              </a:spcAft>
              <a:buClr>
                <a:schemeClr val="dk1"/>
              </a:buClr>
              <a:buSzPts val="1600"/>
              <a:buChar char="•"/>
            </a:pPr>
            <a:r>
              <a:rPr lang="en-ID" sz="1600">
                <a:latin typeface="Calibri"/>
                <a:ea typeface="Calibri"/>
                <a:cs typeface="Calibri"/>
                <a:sym typeface="Calibri"/>
              </a:rPr>
              <a:t>The </a:t>
            </a:r>
            <a:r>
              <a:rPr b="1" lang="en-ID" sz="1600">
                <a:latin typeface="Calibri"/>
                <a:ea typeface="Calibri"/>
                <a:cs typeface="Calibri"/>
                <a:sym typeface="Calibri"/>
              </a:rPr>
              <a:t>onChanged</a:t>
            </a:r>
            <a:r>
              <a:rPr lang="en-ID" sz="1600">
                <a:latin typeface="Calibri"/>
                <a:ea typeface="Calibri"/>
                <a:cs typeface="Calibri"/>
                <a:sym typeface="Calibri"/>
              </a:rPr>
              <a:t> callback is called when the text is changed</a:t>
            </a:r>
            <a:endParaRPr/>
          </a:p>
          <a:p>
            <a:pPr indent="-342900" lvl="0" marL="342900" rtl="0" algn="l">
              <a:lnSpc>
                <a:spcPct val="100000"/>
              </a:lnSpc>
              <a:spcBef>
                <a:spcPts val="320"/>
              </a:spcBef>
              <a:spcAft>
                <a:spcPts val="0"/>
              </a:spcAft>
              <a:buClr>
                <a:schemeClr val="dk1"/>
              </a:buClr>
              <a:buSzPts val="1600"/>
              <a:buChar char="•"/>
            </a:pPr>
            <a:r>
              <a:rPr lang="en-ID" sz="1600">
                <a:latin typeface="Calibri"/>
                <a:ea typeface="Calibri"/>
                <a:cs typeface="Calibri"/>
                <a:sym typeface="Calibri"/>
              </a:rPr>
              <a:t>When the user indicates they are done typing (e.g., by pressing checkmark button on the virtual keyboard), </a:t>
            </a:r>
            <a:r>
              <a:rPr b="1" lang="en-ID" sz="1600">
                <a:latin typeface="Calibri"/>
                <a:ea typeface="Calibri"/>
                <a:cs typeface="Calibri"/>
                <a:sym typeface="Calibri"/>
              </a:rPr>
              <a:t>onSubmitted</a:t>
            </a:r>
            <a:r>
              <a:rPr lang="en-ID" sz="1600">
                <a:latin typeface="Calibri"/>
                <a:ea typeface="Calibri"/>
                <a:cs typeface="Calibri"/>
                <a:sym typeface="Calibri"/>
              </a:rPr>
              <a:t> callback is called</a:t>
            </a:r>
            <a:endParaRPr/>
          </a:p>
          <a:p>
            <a:pPr indent="-342900" lvl="0" marL="342900" rtl="0" algn="l">
              <a:lnSpc>
                <a:spcPct val="100000"/>
              </a:lnSpc>
              <a:spcBef>
                <a:spcPts val="320"/>
              </a:spcBef>
              <a:spcAft>
                <a:spcPts val="0"/>
              </a:spcAft>
              <a:buClr>
                <a:schemeClr val="dk1"/>
              </a:buClr>
              <a:buSzPts val="1600"/>
              <a:buChar char="•"/>
            </a:pPr>
            <a:r>
              <a:rPr lang="en-ID" sz="1600">
                <a:latin typeface="Calibri"/>
                <a:ea typeface="Calibri"/>
                <a:cs typeface="Calibri"/>
                <a:sym typeface="Calibri"/>
              </a:rPr>
              <a:t>A </a:t>
            </a:r>
            <a:r>
              <a:rPr b="1" lang="en-ID" sz="1600">
                <a:latin typeface="Calibri"/>
                <a:ea typeface="Calibri"/>
                <a:cs typeface="Calibri"/>
                <a:sym typeface="Calibri"/>
              </a:rPr>
              <a:t>controller</a:t>
            </a:r>
            <a:r>
              <a:rPr lang="en-ID" sz="1600">
                <a:latin typeface="Calibri"/>
                <a:ea typeface="Calibri"/>
                <a:cs typeface="Calibri"/>
                <a:sym typeface="Calibri"/>
              </a:rPr>
              <a:t> is used to control the text to display in the text field</a:t>
            </a:r>
            <a:endParaRPr/>
          </a:p>
          <a:p>
            <a:pPr indent="-285750" lvl="1" marL="742950" rtl="0" algn="l">
              <a:lnSpc>
                <a:spcPct val="100000"/>
              </a:lnSpc>
              <a:spcBef>
                <a:spcPts val="280"/>
              </a:spcBef>
              <a:spcAft>
                <a:spcPts val="0"/>
              </a:spcAft>
              <a:buClr>
                <a:schemeClr val="dk1"/>
              </a:buClr>
              <a:buSzPts val="1400"/>
              <a:buChar char="–"/>
            </a:pPr>
            <a:r>
              <a:rPr lang="en-ID" sz="1400">
                <a:latin typeface="Calibri"/>
                <a:ea typeface="Calibri"/>
                <a:cs typeface="Calibri"/>
                <a:sym typeface="Calibri"/>
              </a:rPr>
              <a:t>For example, to set the initial text, use a controller that already contains some text</a:t>
            </a:r>
            <a:endParaRPr/>
          </a:p>
          <a:p>
            <a:pPr indent="-285750" lvl="1" marL="742950" rtl="0" algn="l">
              <a:lnSpc>
                <a:spcPct val="100000"/>
              </a:lnSpc>
              <a:spcBef>
                <a:spcPts val="280"/>
              </a:spcBef>
              <a:spcAft>
                <a:spcPts val="0"/>
              </a:spcAft>
              <a:buClr>
                <a:schemeClr val="dk1"/>
              </a:buClr>
              <a:buSzPts val="1400"/>
              <a:buChar char="–"/>
            </a:pPr>
            <a:r>
              <a:rPr lang="en-ID" sz="1400">
                <a:latin typeface="Calibri"/>
                <a:ea typeface="Calibri"/>
                <a:cs typeface="Calibri"/>
                <a:sym typeface="Calibri"/>
              </a:rPr>
              <a:t>It may also control the selection and composing region, as well as observe changes to the text, selection, and composing region</a:t>
            </a:r>
            <a:endParaRPr/>
          </a:p>
          <a:p>
            <a:pPr indent="-342900" lvl="0" marL="342900" rtl="0" algn="l">
              <a:lnSpc>
                <a:spcPct val="100000"/>
              </a:lnSpc>
              <a:spcBef>
                <a:spcPts val="320"/>
              </a:spcBef>
              <a:spcAft>
                <a:spcPts val="0"/>
              </a:spcAft>
              <a:buClr>
                <a:schemeClr val="dk1"/>
              </a:buClr>
              <a:buSzPts val="1600"/>
              <a:buChar char="•"/>
            </a:pPr>
            <a:r>
              <a:rPr lang="en-ID" sz="1600">
                <a:latin typeface="Calibri"/>
                <a:ea typeface="Calibri"/>
                <a:cs typeface="Calibri"/>
                <a:sym typeface="Calibri"/>
              </a:rPr>
              <a:t>The </a:t>
            </a:r>
            <a:r>
              <a:rPr b="1" lang="en-ID" sz="1600">
                <a:latin typeface="Calibri"/>
                <a:ea typeface="Calibri"/>
                <a:cs typeface="Calibri"/>
                <a:sym typeface="Calibri"/>
              </a:rPr>
              <a:t>decoration</a:t>
            </a:r>
            <a:r>
              <a:rPr lang="en-ID" sz="1600">
                <a:latin typeface="Calibri"/>
                <a:ea typeface="Calibri"/>
                <a:cs typeface="Calibri"/>
                <a:sym typeface="Calibri"/>
              </a:rPr>
              <a:t> property controls the decoration (by default, a divider line below the text field), e.g. adding a label or an icon</a:t>
            </a:r>
            <a:endParaRPr/>
          </a:p>
          <a:p>
            <a:pPr indent="-285750" lvl="1" marL="742950" rtl="0" algn="l">
              <a:lnSpc>
                <a:spcPct val="100000"/>
              </a:lnSpc>
              <a:spcBef>
                <a:spcPts val="280"/>
              </a:spcBef>
              <a:spcAft>
                <a:spcPts val="0"/>
              </a:spcAft>
              <a:buClr>
                <a:schemeClr val="dk1"/>
              </a:buClr>
              <a:buSzPts val="1400"/>
              <a:buChar char="–"/>
            </a:pPr>
            <a:r>
              <a:rPr lang="en-ID" sz="1400">
                <a:latin typeface="Calibri"/>
                <a:ea typeface="Calibri"/>
                <a:cs typeface="Calibri"/>
                <a:sym typeface="Calibri"/>
              </a:rPr>
              <a:t>Set to null and the decoration (including any extra padding for saving space for the label) will be removed</a:t>
            </a:r>
            <a:endParaRPr/>
          </a:p>
        </p:txBody>
      </p:sp>
      <p:sp>
        <p:nvSpPr>
          <p:cNvPr descr="Google's Flutter framework spreads its wings and goes multi-platform |  TechCrunch" id="178" name="Google Shape;178;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sp>
        <p:nvSpPr>
          <p:cNvPr id="183" name="Google Shape;183;p1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Re-arrange recipe</a:t>
            </a:r>
            <a:endParaRPr/>
          </a:p>
        </p:txBody>
      </p:sp>
      <p:cxnSp>
        <p:nvCxnSpPr>
          <p:cNvPr id="184" name="Google Shape;184;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85" name="Google Shape;185;p12"/>
          <p:cNvSpPr txBox="1"/>
          <p:nvPr>
            <p:ph idx="1" type="body"/>
          </p:nvPr>
        </p:nvSpPr>
        <p:spPr>
          <a:xfrm>
            <a:off x="460375" y="737282"/>
            <a:ext cx="8317865" cy="404847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We will continue the previous topic about food recipe. </a:t>
            </a:r>
            <a:endParaRPr/>
          </a:p>
          <a:p>
            <a:pPr indent="0" lvl="0" marL="0" rtl="0" algn="l">
              <a:lnSpc>
                <a:spcPct val="100000"/>
              </a:lnSpc>
              <a:spcBef>
                <a:spcPts val="400"/>
              </a:spcBef>
              <a:spcAft>
                <a:spcPts val="0"/>
              </a:spcAft>
              <a:buClr>
                <a:schemeClr val="dk1"/>
              </a:buClr>
              <a:buSzPts val="1800"/>
              <a:buNone/>
            </a:pPr>
            <a:r>
              <a:rPr lang="en-ID" sz="1800">
                <a:latin typeface="Calibri"/>
                <a:ea typeface="Calibri"/>
                <a:cs typeface="Calibri"/>
                <a:sym typeface="Calibri"/>
              </a:rPr>
              <a:t>Because the recipe class and variable will be used in more than one screen, and to make it well organized, we will put recipe class and recipe variable in new file and in new folder (inside </a:t>
            </a:r>
            <a:r>
              <a:rPr b="1" lang="en-ID" sz="1800">
                <a:latin typeface="Calibri"/>
                <a:ea typeface="Calibri"/>
                <a:cs typeface="Calibri"/>
                <a:sym typeface="Calibri"/>
              </a:rPr>
              <a:t>lib</a:t>
            </a:r>
            <a:r>
              <a:rPr lang="en-ID" sz="1800">
                <a:latin typeface="Calibri"/>
                <a:ea typeface="Calibri"/>
                <a:cs typeface="Calibri"/>
                <a:sym typeface="Calibri"/>
              </a:rPr>
              <a:t> folder) :  </a:t>
            </a:r>
            <a:r>
              <a:rPr lang="en-ID" sz="2000">
                <a:solidFill>
                  <a:srgbClr val="FF0000"/>
                </a:solidFill>
                <a:latin typeface="Consolas"/>
                <a:ea typeface="Consolas"/>
                <a:cs typeface="Consolas"/>
                <a:sym typeface="Consolas"/>
              </a:rPr>
              <a:t>\class\recipe.dart</a:t>
            </a:r>
            <a:endParaRPr sz="2000">
              <a:solidFill>
                <a:srgbClr val="FF0000"/>
              </a:solidFill>
              <a:latin typeface="Consolas"/>
              <a:ea typeface="Consolas"/>
              <a:cs typeface="Consolas"/>
              <a:sym typeface="Consolas"/>
            </a:endParaRPr>
          </a:p>
          <a:p>
            <a:pPr indent="0" lvl="0" marL="0" rtl="0" algn="l">
              <a:lnSpc>
                <a:spcPct val="100000"/>
              </a:lnSpc>
              <a:spcBef>
                <a:spcPts val="400"/>
              </a:spcBef>
              <a:spcAft>
                <a:spcPts val="0"/>
              </a:spcAft>
              <a:buClr>
                <a:schemeClr val="dk1"/>
              </a:buClr>
              <a:buSzPts val="2000"/>
              <a:buNone/>
            </a:pPr>
            <a:r>
              <a:t/>
            </a:r>
            <a:endParaRPr sz="2000">
              <a:solidFill>
                <a:srgbClr val="FF0000"/>
              </a:solidFill>
              <a:latin typeface="Calibri"/>
              <a:ea typeface="Calibri"/>
              <a:cs typeface="Calibri"/>
              <a:sym typeface="Calibri"/>
            </a:endParaRPr>
          </a:p>
          <a:p>
            <a:pPr indent="0" lvl="0" marL="0" rtl="0" algn="l">
              <a:lnSpc>
                <a:spcPct val="100000"/>
              </a:lnSpc>
              <a:spcBef>
                <a:spcPts val="360"/>
              </a:spcBef>
              <a:spcAft>
                <a:spcPts val="0"/>
              </a:spcAft>
              <a:buClr>
                <a:schemeClr val="dk1"/>
              </a:buClr>
              <a:buSzPts val="1800"/>
              <a:buNone/>
            </a:pPr>
            <a:r>
              <a:rPr lang="en-ID" sz="1800">
                <a:latin typeface="Calibri"/>
                <a:ea typeface="Calibri"/>
                <a:cs typeface="Calibri"/>
                <a:sym typeface="Calibri"/>
              </a:rPr>
              <a:t>We must import above file in the </a:t>
            </a:r>
            <a:r>
              <a:rPr b="1" lang="en-ID" sz="1800">
                <a:latin typeface="Calibri"/>
                <a:ea typeface="Calibri"/>
                <a:cs typeface="Calibri"/>
                <a:sym typeface="Calibri"/>
              </a:rPr>
              <a:t>basket.dart</a:t>
            </a:r>
            <a:r>
              <a:rPr lang="en-ID" sz="1800">
                <a:latin typeface="Calibri"/>
                <a:ea typeface="Calibri"/>
                <a:cs typeface="Calibri"/>
                <a:sym typeface="Calibri"/>
              </a:rPr>
              <a:t>.</a:t>
            </a:r>
            <a:endParaRPr/>
          </a:p>
          <a:p>
            <a:pPr indent="0" lvl="0" marL="0" rtl="0" algn="l">
              <a:lnSpc>
                <a:spcPct val="100000"/>
              </a:lnSpc>
              <a:spcBef>
                <a:spcPts val="360"/>
              </a:spcBef>
              <a:spcAft>
                <a:spcPts val="0"/>
              </a:spcAft>
              <a:buClr>
                <a:srgbClr val="FF0000"/>
              </a:buClr>
              <a:buSzPts val="1800"/>
              <a:buNone/>
            </a:pPr>
            <a:r>
              <a:rPr lang="en-ID" sz="1800">
                <a:solidFill>
                  <a:srgbClr val="FF0000"/>
                </a:solidFill>
                <a:latin typeface="Consolas"/>
                <a:ea typeface="Consolas"/>
                <a:cs typeface="Consolas"/>
                <a:sym typeface="Consolas"/>
              </a:rPr>
              <a:t>import '../class/recipe.dart';</a:t>
            </a:r>
            <a:endParaRPr/>
          </a:p>
          <a:p>
            <a:pPr indent="0" lvl="0" marL="0" rtl="0" algn="l">
              <a:lnSpc>
                <a:spcPct val="100000"/>
              </a:lnSpc>
              <a:spcBef>
                <a:spcPts val="360"/>
              </a:spcBef>
              <a:spcAft>
                <a:spcPts val="0"/>
              </a:spcAft>
              <a:buClr>
                <a:schemeClr val="dk1"/>
              </a:buClr>
              <a:buSzPts val="1800"/>
              <a:buNone/>
            </a:pPr>
            <a:r>
              <a:t/>
            </a:r>
            <a:endParaRPr sz="1800">
              <a:latin typeface="Calibri"/>
              <a:ea typeface="Calibri"/>
              <a:cs typeface="Calibri"/>
              <a:sym typeface="Calibri"/>
            </a:endParaRPr>
          </a:p>
        </p:txBody>
      </p:sp>
      <p:sp>
        <p:nvSpPr>
          <p:cNvPr descr="Google's Flutter framework spreads its wings and goes multi-platform |  TechCrunch" id="186" name="Google Shape;186;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sp>
        <p:nvSpPr>
          <p:cNvPr id="191" name="Google Shape;191;p1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recipe.dart reorganized</a:t>
            </a:r>
            <a:endParaRPr/>
          </a:p>
        </p:txBody>
      </p:sp>
      <p:cxnSp>
        <p:nvCxnSpPr>
          <p:cNvPr id="192" name="Google Shape;192;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93" name="Google Shape;193;p13"/>
          <p:cNvSpPr txBox="1"/>
          <p:nvPr>
            <p:ph idx="1" type="body"/>
          </p:nvPr>
        </p:nvSpPr>
        <p:spPr>
          <a:xfrm>
            <a:off x="460375" y="737281"/>
            <a:ext cx="8317800" cy="638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Instead of adding items after declaring the list, you can also create the Recipe objects directly like this:</a:t>
            </a:r>
            <a:endParaRPr sz="1800">
              <a:latin typeface="Calibri"/>
              <a:ea typeface="Calibri"/>
              <a:cs typeface="Calibri"/>
              <a:sym typeface="Calibri"/>
            </a:endParaRPr>
          </a:p>
          <a:p>
            <a:pPr indent="0" lvl="0" marL="0" rtl="0" algn="l">
              <a:lnSpc>
                <a:spcPct val="100000"/>
              </a:lnSpc>
              <a:spcBef>
                <a:spcPts val="360"/>
              </a:spcBef>
              <a:spcAft>
                <a:spcPts val="0"/>
              </a:spcAft>
              <a:buClr>
                <a:schemeClr val="dk1"/>
              </a:buClr>
              <a:buSzPts val="1800"/>
              <a:buNone/>
            </a:pPr>
            <a:r>
              <a:t/>
            </a:r>
            <a:endParaRPr sz="1800">
              <a:latin typeface="Calibri"/>
              <a:ea typeface="Calibri"/>
              <a:cs typeface="Calibri"/>
              <a:sym typeface="Calibri"/>
            </a:endParaRPr>
          </a:p>
        </p:txBody>
      </p:sp>
      <p:sp>
        <p:nvSpPr>
          <p:cNvPr descr="Google's Flutter framework spreads its wings and goes multi-platform |  TechCrunch" id="194" name="Google Shape;194;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5" name="Google Shape;195;p13"/>
          <p:cNvSpPr txBox="1"/>
          <p:nvPr/>
        </p:nvSpPr>
        <p:spPr>
          <a:xfrm>
            <a:off x="680950" y="1302475"/>
            <a:ext cx="7659600" cy="337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sz="900">
                <a:solidFill>
                  <a:srgbClr val="FF0000"/>
                </a:solidFill>
              </a:rPr>
              <a:t>var recipes = &lt;Recipe&gt;[</a:t>
            </a:r>
            <a:endParaRPr sz="900">
              <a:solidFill>
                <a:srgbClr val="FF0000"/>
              </a:solidFill>
            </a:endParaRPr>
          </a:p>
          <a:p>
            <a:pPr indent="0" lvl="0" marL="0" rtl="0" algn="l">
              <a:spcBef>
                <a:spcPts val="0"/>
              </a:spcBef>
              <a:spcAft>
                <a:spcPts val="0"/>
              </a:spcAft>
              <a:buNone/>
            </a:pPr>
            <a:r>
              <a:rPr lang="en-ID" sz="900">
                <a:solidFill>
                  <a:srgbClr val="FF0000"/>
                </a:solidFill>
              </a:rPr>
              <a:t>     Recipe(</a:t>
            </a:r>
            <a:endParaRPr sz="900">
              <a:solidFill>
                <a:srgbClr val="FF0000"/>
              </a:solidFill>
            </a:endParaRPr>
          </a:p>
          <a:p>
            <a:pPr indent="0" lvl="0" marL="0" rtl="0" algn="l">
              <a:spcBef>
                <a:spcPts val="0"/>
              </a:spcBef>
              <a:spcAft>
                <a:spcPts val="0"/>
              </a:spcAft>
              <a:buNone/>
            </a:pPr>
            <a:r>
              <a:rPr lang="en-ID" sz="900">
                <a:solidFill>
                  <a:srgbClr val="FF0000"/>
                </a:solidFill>
              </a:rPr>
              <a:t>        id: 1,</a:t>
            </a:r>
            <a:endParaRPr sz="900">
              <a:solidFill>
                <a:srgbClr val="FF0000"/>
              </a:solidFill>
            </a:endParaRPr>
          </a:p>
          <a:p>
            <a:pPr indent="0" lvl="0" marL="0" rtl="0" algn="l">
              <a:spcBef>
                <a:spcPts val="0"/>
              </a:spcBef>
              <a:spcAft>
                <a:spcPts val="0"/>
              </a:spcAft>
              <a:buNone/>
            </a:pPr>
            <a:r>
              <a:rPr lang="en-ID" sz="900">
                <a:solidFill>
                  <a:srgbClr val="FF0000"/>
                </a:solidFill>
              </a:rPr>
              <a:t>        name: 'Rujak Cingur',</a:t>
            </a:r>
            <a:endParaRPr sz="900">
              <a:solidFill>
                <a:srgbClr val="FF0000"/>
              </a:solidFill>
            </a:endParaRPr>
          </a:p>
          <a:p>
            <a:pPr indent="0" lvl="0" marL="0" rtl="0" algn="l">
              <a:spcBef>
                <a:spcPts val="0"/>
              </a:spcBef>
              <a:spcAft>
                <a:spcPts val="0"/>
              </a:spcAft>
              <a:buNone/>
            </a:pPr>
            <a:r>
              <a:rPr lang="en-ID" sz="900">
                <a:solidFill>
                  <a:srgbClr val="FF0000"/>
                </a:solidFill>
              </a:rPr>
              <a:t>        photo: 'https://www.astronauts.id/blog/wp-content/uploads/2023/12/rujak-cingur-makanan-khas-daerah-jawa-timur.jpg',</a:t>
            </a:r>
            <a:endParaRPr sz="900">
              <a:solidFill>
                <a:srgbClr val="FF0000"/>
              </a:solidFill>
            </a:endParaRPr>
          </a:p>
          <a:p>
            <a:pPr indent="0" lvl="0" marL="0" rtl="0" algn="l">
              <a:spcBef>
                <a:spcPts val="0"/>
              </a:spcBef>
              <a:spcAft>
                <a:spcPts val="0"/>
              </a:spcAft>
              <a:buNone/>
            </a:pPr>
            <a:r>
              <a:rPr lang="en-ID" sz="900">
                <a:solidFill>
                  <a:srgbClr val="FF0000"/>
                </a:solidFill>
              </a:rPr>
              <a:t>        desc: 'Rujak Cingur, makanan khas Surabaya, menjadi unik dengan menggunakan cingur (mulut sapi) sebagai bahan utama.',</a:t>
            </a:r>
            <a:endParaRPr sz="900">
              <a:solidFill>
                <a:srgbClr val="FF0000"/>
              </a:solidFill>
            </a:endParaRPr>
          </a:p>
          <a:p>
            <a:pPr indent="0" lvl="0" marL="0" rtl="0" algn="l">
              <a:spcBef>
                <a:spcPts val="0"/>
              </a:spcBef>
              <a:spcAft>
                <a:spcPts val="0"/>
              </a:spcAft>
              <a:buNone/>
            </a:pPr>
            <a:r>
              <a:rPr lang="en-ID" sz="900">
                <a:solidFill>
                  <a:srgbClr val="FF0000"/>
                </a:solidFill>
              </a:rPr>
              <a:t>      ),</a:t>
            </a:r>
            <a:endParaRPr sz="900">
              <a:solidFill>
                <a:srgbClr val="FF0000"/>
              </a:solidFill>
            </a:endParaRPr>
          </a:p>
          <a:p>
            <a:pPr indent="0" lvl="0" marL="0" rtl="0" algn="l">
              <a:spcBef>
                <a:spcPts val="0"/>
              </a:spcBef>
              <a:spcAft>
                <a:spcPts val="0"/>
              </a:spcAft>
              <a:buNone/>
            </a:pPr>
            <a:r>
              <a:rPr lang="en-ID" sz="900">
                <a:solidFill>
                  <a:srgbClr val="FF0000"/>
                </a:solidFill>
              </a:rPr>
              <a:t>    </a:t>
            </a:r>
            <a:endParaRPr sz="900">
              <a:solidFill>
                <a:srgbClr val="FF0000"/>
              </a:solidFill>
            </a:endParaRPr>
          </a:p>
          <a:p>
            <a:pPr indent="0" lvl="0" marL="0" rtl="0" algn="l">
              <a:spcBef>
                <a:spcPts val="0"/>
              </a:spcBef>
              <a:spcAft>
                <a:spcPts val="0"/>
              </a:spcAft>
              <a:buNone/>
            </a:pPr>
            <a:r>
              <a:rPr lang="en-ID" sz="900">
                <a:solidFill>
                  <a:srgbClr val="FF0000"/>
                </a:solidFill>
              </a:rPr>
              <a:t>    Recipe(</a:t>
            </a:r>
            <a:endParaRPr sz="900">
              <a:solidFill>
                <a:srgbClr val="FF0000"/>
              </a:solidFill>
            </a:endParaRPr>
          </a:p>
          <a:p>
            <a:pPr indent="0" lvl="0" marL="0" rtl="0" algn="l">
              <a:spcBef>
                <a:spcPts val="0"/>
              </a:spcBef>
              <a:spcAft>
                <a:spcPts val="0"/>
              </a:spcAft>
              <a:buNone/>
            </a:pPr>
            <a:r>
              <a:rPr lang="en-ID" sz="900">
                <a:solidFill>
                  <a:srgbClr val="FF0000"/>
                </a:solidFill>
              </a:rPr>
              <a:t>        id: 2,</a:t>
            </a:r>
            <a:endParaRPr sz="900">
              <a:solidFill>
                <a:srgbClr val="FF0000"/>
              </a:solidFill>
            </a:endParaRPr>
          </a:p>
          <a:p>
            <a:pPr indent="0" lvl="0" marL="0" rtl="0" algn="l">
              <a:spcBef>
                <a:spcPts val="0"/>
              </a:spcBef>
              <a:spcAft>
                <a:spcPts val="0"/>
              </a:spcAft>
              <a:buNone/>
            </a:pPr>
            <a:r>
              <a:rPr lang="en-ID" sz="900">
                <a:solidFill>
                  <a:srgbClr val="FF0000"/>
                </a:solidFill>
              </a:rPr>
              <a:t>        name: 'Nasi Gudeg',</a:t>
            </a:r>
            <a:endParaRPr sz="900">
              <a:solidFill>
                <a:srgbClr val="FF0000"/>
              </a:solidFill>
            </a:endParaRPr>
          </a:p>
          <a:p>
            <a:pPr indent="0" lvl="0" marL="0" rtl="0" algn="l">
              <a:spcBef>
                <a:spcPts val="0"/>
              </a:spcBef>
              <a:spcAft>
                <a:spcPts val="0"/>
              </a:spcAft>
              <a:buNone/>
            </a:pPr>
            <a:r>
              <a:rPr lang="en-ID" sz="900">
                <a:solidFill>
                  <a:srgbClr val="FF0000"/>
                </a:solidFill>
              </a:rPr>
              <a:t>        photo: 'https://www.astronauts.id/blog/wp-content/uploads/2023/12/nasi-gudeg-makanan-khas-daerah-DI-Jogjakarta.jpg',</a:t>
            </a:r>
            <a:endParaRPr sz="900">
              <a:solidFill>
                <a:srgbClr val="FF0000"/>
              </a:solidFill>
            </a:endParaRPr>
          </a:p>
          <a:p>
            <a:pPr indent="0" lvl="0" marL="0" rtl="0" algn="l">
              <a:spcBef>
                <a:spcPts val="0"/>
              </a:spcBef>
              <a:spcAft>
                <a:spcPts val="0"/>
              </a:spcAft>
              <a:buNone/>
            </a:pPr>
            <a:r>
              <a:rPr lang="en-ID" sz="900">
                <a:solidFill>
                  <a:srgbClr val="FF0000"/>
                </a:solidFill>
              </a:rPr>
              <a:t>        desc: 'Nasi Gudeg, kuliner khas Jogja, merupakan olahan nangka muda yang dimasak dengan santan.',</a:t>
            </a:r>
            <a:endParaRPr sz="900">
              <a:solidFill>
                <a:srgbClr val="FF0000"/>
              </a:solidFill>
            </a:endParaRPr>
          </a:p>
          <a:p>
            <a:pPr indent="0" lvl="0" marL="0" rtl="0" algn="l">
              <a:spcBef>
                <a:spcPts val="0"/>
              </a:spcBef>
              <a:spcAft>
                <a:spcPts val="0"/>
              </a:spcAft>
              <a:buNone/>
            </a:pPr>
            <a:r>
              <a:rPr lang="en-ID" sz="900">
                <a:solidFill>
                  <a:srgbClr val="FF0000"/>
                </a:solidFill>
              </a:rPr>
              <a:t>      ),</a:t>
            </a:r>
            <a:endParaRPr sz="900">
              <a:solidFill>
                <a:srgbClr val="FF0000"/>
              </a:solidFill>
            </a:endParaRPr>
          </a:p>
          <a:p>
            <a:pPr indent="0" lvl="0" marL="0" rtl="0" algn="l">
              <a:spcBef>
                <a:spcPts val="0"/>
              </a:spcBef>
              <a:spcAft>
                <a:spcPts val="0"/>
              </a:spcAft>
              <a:buNone/>
            </a:pPr>
            <a:r>
              <a:rPr lang="en-ID" sz="900">
                <a:solidFill>
                  <a:srgbClr val="FF0000"/>
                </a:solidFill>
              </a:rPr>
              <a:t>    </a:t>
            </a:r>
            <a:endParaRPr sz="900">
              <a:solidFill>
                <a:srgbClr val="FF0000"/>
              </a:solidFill>
            </a:endParaRPr>
          </a:p>
          <a:p>
            <a:pPr indent="0" lvl="0" marL="0" rtl="0" algn="l">
              <a:spcBef>
                <a:spcPts val="0"/>
              </a:spcBef>
              <a:spcAft>
                <a:spcPts val="0"/>
              </a:spcAft>
              <a:buNone/>
            </a:pPr>
            <a:r>
              <a:rPr lang="en-ID" sz="900">
                <a:solidFill>
                  <a:srgbClr val="FF0000"/>
                </a:solidFill>
              </a:rPr>
              <a:t>    Recipe(</a:t>
            </a:r>
            <a:endParaRPr sz="900">
              <a:solidFill>
                <a:srgbClr val="FF0000"/>
              </a:solidFill>
            </a:endParaRPr>
          </a:p>
          <a:p>
            <a:pPr indent="0" lvl="0" marL="0" rtl="0" algn="l">
              <a:spcBef>
                <a:spcPts val="0"/>
              </a:spcBef>
              <a:spcAft>
                <a:spcPts val="0"/>
              </a:spcAft>
              <a:buNone/>
            </a:pPr>
            <a:r>
              <a:rPr lang="en-ID" sz="900">
                <a:solidFill>
                  <a:srgbClr val="FF0000"/>
                </a:solidFill>
              </a:rPr>
              <a:t>        id: 3,</a:t>
            </a:r>
            <a:endParaRPr sz="900">
              <a:solidFill>
                <a:srgbClr val="FF0000"/>
              </a:solidFill>
            </a:endParaRPr>
          </a:p>
          <a:p>
            <a:pPr indent="0" lvl="0" marL="0" rtl="0" algn="l">
              <a:spcBef>
                <a:spcPts val="0"/>
              </a:spcBef>
              <a:spcAft>
                <a:spcPts val="0"/>
              </a:spcAft>
              <a:buNone/>
            </a:pPr>
            <a:r>
              <a:rPr lang="en-ID" sz="900">
                <a:solidFill>
                  <a:srgbClr val="FF0000"/>
                </a:solidFill>
              </a:rPr>
              <a:t>        name: 'Palumara',</a:t>
            </a:r>
            <a:endParaRPr sz="900">
              <a:solidFill>
                <a:srgbClr val="FF0000"/>
              </a:solidFill>
            </a:endParaRPr>
          </a:p>
          <a:p>
            <a:pPr indent="0" lvl="0" marL="0" rtl="0" algn="l">
              <a:spcBef>
                <a:spcPts val="0"/>
              </a:spcBef>
              <a:spcAft>
                <a:spcPts val="0"/>
              </a:spcAft>
              <a:buNone/>
            </a:pPr>
            <a:r>
              <a:rPr lang="en-ID" sz="900">
                <a:solidFill>
                  <a:srgbClr val="FF0000"/>
                </a:solidFill>
              </a:rPr>
              <a:t>        photo: 'https://www.astronauts.id/blog/wp-content/uploads/2023/12/palumara-makanan-khas-daerah-sulawesi-tengah.jpg',</a:t>
            </a:r>
            <a:endParaRPr sz="900">
              <a:solidFill>
                <a:srgbClr val="FF0000"/>
              </a:solidFill>
            </a:endParaRPr>
          </a:p>
          <a:p>
            <a:pPr indent="0" lvl="0" marL="0" rtl="0" algn="l">
              <a:spcBef>
                <a:spcPts val="0"/>
              </a:spcBef>
              <a:spcAft>
                <a:spcPts val="0"/>
              </a:spcAft>
              <a:buNone/>
            </a:pPr>
            <a:r>
              <a:rPr lang="en-ID" sz="900">
                <a:solidFill>
                  <a:srgbClr val="FF0000"/>
                </a:solidFill>
              </a:rPr>
              <a:t>        desc: 'Palumara, sup ikan khas Sulawesi Tengah, adalah perpaduan citarasa pedas dan asam yang menggoda selera.',</a:t>
            </a:r>
            <a:endParaRPr sz="900">
              <a:solidFill>
                <a:srgbClr val="FF0000"/>
              </a:solidFill>
            </a:endParaRPr>
          </a:p>
          <a:p>
            <a:pPr indent="0" lvl="0" marL="0" rtl="0" algn="l">
              <a:spcBef>
                <a:spcPts val="0"/>
              </a:spcBef>
              <a:spcAft>
                <a:spcPts val="0"/>
              </a:spcAft>
              <a:buNone/>
            </a:pPr>
            <a:r>
              <a:rPr lang="en-ID" sz="900">
                <a:solidFill>
                  <a:srgbClr val="FF0000"/>
                </a:solidFill>
              </a:rPr>
              <a:t>      ),</a:t>
            </a:r>
            <a:endParaRPr sz="900">
              <a:solidFill>
                <a:srgbClr val="FF0000"/>
              </a:solidFill>
            </a:endParaRPr>
          </a:p>
          <a:p>
            <a:pPr indent="0" lvl="0" marL="0" rtl="0" algn="l">
              <a:spcBef>
                <a:spcPts val="0"/>
              </a:spcBef>
              <a:spcAft>
                <a:spcPts val="0"/>
              </a:spcAft>
              <a:buNone/>
            </a:pPr>
            <a:r>
              <a:rPr lang="en-ID" sz="900">
                <a:solidFill>
                  <a:srgbClr val="FF0000"/>
                </a:solidFill>
              </a:rPr>
              <a:t>   ];</a:t>
            </a:r>
            <a:endParaRPr sz="900">
              <a:solidFill>
                <a:srgbClr val="FF0000"/>
              </a:solidFill>
            </a:endParaRPr>
          </a:p>
          <a:p>
            <a:pPr indent="0" lvl="0" marL="0" rtl="0" algn="l">
              <a:spcBef>
                <a:spcPts val="0"/>
              </a:spcBef>
              <a:spcAft>
                <a:spcPts val="0"/>
              </a:spcAft>
              <a:buNone/>
            </a:pPr>
            <a:r>
              <a:t/>
            </a:r>
            <a:endParaRPr sz="900">
              <a:solidFill>
                <a:srgbClr val="FF0000"/>
              </a:solidFill>
            </a:endParaRPr>
          </a:p>
        </p:txBody>
      </p:sp>
      <p:sp>
        <p:nvSpPr>
          <p:cNvPr id="196" name="Google Shape;196;p13"/>
          <p:cNvSpPr txBox="1"/>
          <p:nvPr/>
        </p:nvSpPr>
        <p:spPr>
          <a:xfrm>
            <a:off x="597300" y="4504700"/>
            <a:ext cx="574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sz="1800">
                <a:solidFill>
                  <a:schemeClr val="dk1"/>
                </a:solidFill>
                <a:latin typeface="Calibri"/>
                <a:ea typeface="Calibri"/>
                <a:cs typeface="Calibri"/>
                <a:sym typeface="Calibri"/>
              </a:rPr>
              <a:t>Declare this </a:t>
            </a:r>
            <a:r>
              <a:rPr b="1" lang="en-ID" sz="1800">
                <a:solidFill>
                  <a:schemeClr val="dk1"/>
                </a:solidFill>
                <a:latin typeface="Calibri"/>
                <a:ea typeface="Calibri"/>
                <a:cs typeface="Calibri"/>
                <a:sym typeface="Calibri"/>
              </a:rPr>
              <a:t>var recipes inside the recipe.dart</a:t>
            </a:r>
            <a:endParaRPr b="1" sz="1800">
              <a:solidFill>
                <a:srgbClr val="FF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0" name="Shape 200"/>
        <p:cNvGrpSpPr/>
        <p:nvPr/>
      </p:nvGrpSpPr>
      <p:grpSpPr>
        <a:xfrm>
          <a:off x="0" y="0"/>
          <a:ext cx="0" cy="0"/>
          <a:chOff x="0" y="0"/>
          <a:chExt cx="0" cy="0"/>
        </a:xfrm>
      </p:grpSpPr>
      <p:sp>
        <p:nvSpPr>
          <p:cNvPr id="201" name="Google Shape;201;p1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New screen. addrecipe.dart. Stateful.</a:t>
            </a:r>
            <a:endParaRPr/>
          </a:p>
        </p:txBody>
      </p:sp>
      <p:cxnSp>
        <p:nvCxnSpPr>
          <p:cNvPr id="202" name="Google Shape;202;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03" name="Google Shape;203;p14"/>
          <p:cNvSpPr txBox="1"/>
          <p:nvPr>
            <p:ph idx="1" type="body"/>
          </p:nvPr>
        </p:nvSpPr>
        <p:spPr>
          <a:xfrm>
            <a:off x="460375" y="737282"/>
            <a:ext cx="8317865" cy="4118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For the next widget in following slide, we will use a stateful type of screen. </a:t>
            </a:r>
            <a:endParaRPr/>
          </a:p>
        </p:txBody>
      </p:sp>
      <p:sp>
        <p:nvSpPr>
          <p:cNvPr descr="Google's Flutter framework spreads its wings and goes multi-platform |  TechCrunch" id="204" name="Google Shape;204;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p14"/>
          <p:cNvSpPr txBox="1"/>
          <p:nvPr/>
        </p:nvSpPr>
        <p:spPr>
          <a:xfrm>
            <a:off x="4619307" y="3941717"/>
            <a:ext cx="2865120" cy="646331"/>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D" sz="1800" u="none" cap="none" strike="noStrike">
                <a:solidFill>
                  <a:schemeClr val="dk1"/>
                </a:solidFill>
                <a:latin typeface="Arial"/>
                <a:ea typeface="Arial"/>
                <a:cs typeface="Arial"/>
                <a:sym typeface="Arial"/>
              </a:rPr>
              <a:t>Add a menu in the drawer that call this screen</a:t>
            </a:r>
            <a:endParaRPr b="0" i="0" sz="1400" u="none" cap="none" strike="noStrike">
              <a:solidFill>
                <a:srgbClr val="000000"/>
              </a:solidFill>
              <a:latin typeface="Arial"/>
              <a:ea typeface="Arial"/>
              <a:cs typeface="Arial"/>
              <a:sym typeface="Arial"/>
            </a:endParaRPr>
          </a:p>
        </p:txBody>
      </p:sp>
      <p:sp>
        <p:nvSpPr>
          <p:cNvPr id="206" name="Google Shape;206;p14"/>
          <p:cNvSpPr txBox="1"/>
          <p:nvPr/>
        </p:nvSpPr>
        <p:spPr>
          <a:xfrm>
            <a:off x="460375" y="1155474"/>
            <a:ext cx="6768600" cy="363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import 'package:flutter/material.dart';</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class AddRecipe extends StatefulWidget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const AddRecipe({super.key});</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@override</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State&lt;StatefulWidget&gt; createState()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return _AddRecipeState();</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class _AddRecipeState extends State&lt;AddRecipe&gt;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@override</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Widget build(BuildContext context)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return Scaffold(</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appBar: AppBar(</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title: const Text('Add Recipe'),</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body: const Center(</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child:  Text('Example Text'),</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ID" sz="1000" u="none" cap="none" strike="noStrike">
                <a:solidFill>
                  <a:srgbClr val="FF0000"/>
                </a:solidFill>
                <a:latin typeface="Consolas"/>
                <a:ea typeface="Consolas"/>
                <a:cs typeface="Consolas"/>
                <a:sym typeface="Consolas"/>
              </a:rPr>
              <a:t>}</a:t>
            </a:r>
            <a:endParaRPr b="0" i="0" sz="1000" u="none" cap="none" strike="noStrike">
              <a:solidFill>
                <a:srgbClr val="FF000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sp>
        <p:nvSpPr>
          <p:cNvPr id="211" name="Google Shape;211;p1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Add Text field with controller</a:t>
            </a:r>
            <a:endParaRPr/>
          </a:p>
        </p:txBody>
      </p:sp>
      <p:cxnSp>
        <p:nvCxnSpPr>
          <p:cNvPr id="212" name="Google Shape;212;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13" name="Google Shape;213;p15"/>
          <p:cNvSpPr txBox="1"/>
          <p:nvPr>
            <p:ph idx="1" type="body"/>
          </p:nvPr>
        </p:nvSpPr>
        <p:spPr>
          <a:xfrm>
            <a:off x="460375" y="737282"/>
            <a:ext cx="8317865" cy="404847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If we want to set or get value in the text field easily, we can connect text field with a controller. </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final TextEditingController _recipeNameController = TextEditingController();</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@override</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void initState() {</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super.initState();</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_recipeNameController.text = "your food name";</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lnSpc>
                <a:spcPct val="100000"/>
              </a:lnSpc>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TextField(</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controller:_recipeNameController,</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onChanged: (v) {</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print(_recipeNameController.text);</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print(v);</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                            </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sz="1800">
              <a:latin typeface="Calibri"/>
              <a:ea typeface="Calibri"/>
              <a:cs typeface="Calibri"/>
              <a:sym typeface="Calibri"/>
            </a:endParaRPr>
          </a:p>
        </p:txBody>
      </p:sp>
      <p:sp>
        <p:nvSpPr>
          <p:cNvPr descr="Google's Flutter framework spreads its wings and goes multi-platform |  TechCrunch" id="214" name="Google Shape;214;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5" name="Google Shape;215;p15"/>
          <p:cNvSpPr txBox="1"/>
          <p:nvPr/>
        </p:nvSpPr>
        <p:spPr>
          <a:xfrm>
            <a:off x="4841376" y="1694587"/>
            <a:ext cx="4298270" cy="954107"/>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Arial"/>
                <a:ea typeface="Arial"/>
                <a:cs typeface="Arial"/>
                <a:sym typeface="Arial"/>
              </a:rPr>
              <a:t>initState is used for initializing value of variables. It will be run first and just once. Add this within _AddRecipeState class.</a:t>
            </a:r>
            <a:br>
              <a:rPr b="0" i="0" lang="en-ID" sz="1400" u="none" cap="none" strike="noStrike">
                <a:solidFill>
                  <a:schemeClr val="dk1"/>
                </a:solidFill>
                <a:latin typeface="Arial"/>
                <a:ea typeface="Arial"/>
                <a:cs typeface="Arial"/>
                <a:sym typeface="Arial"/>
              </a:rPr>
            </a:br>
            <a:r>
              <a:rPr b="0" i="0" lang="en-ID" sz="1400" u="none" cap="none" strike="noStrike">
                <a:solidFill>
                  <a:schemeClr val="dk1"/>
                </a:solidFill>
                <a:latin typeface="Arial"/>
                <a:ea typeface="Arial"/>
                <a:cs typeface="Arial"/>
                <a:sym typeface="Arial"/>
              </a:rPr>
              <a:t>Build function will be executed in the setState.</a:t>
            </a:r>
            <a:endParaRPr b="0" i="0" sz="1400" u="none" cap="none" strike="noStrike">
              <a:solidFill>
                <a:srgbClr val="000000"/>
              </a:solidFill>
              <a:latin typeface="Arial"/>
              <a:ea typeface="Arial"/>
              <a:cs typeface="Arial"/>
              <a:sym typeface="Arial"/>
            </a:endParaRPr>
          </a:p>
        </p:txBody>
      </p:sp>
      <p:sp>
        <p:nvSpPr>
          <p:cNvPr id="216" name="Google Shape;216;p15"/>
          <p:cNvSpPr txBox="1"/>
          <p:nvPr/>
        </p:nvSpPr>
        <p:spPr>
          <a:xfrm>
            <a:off x="4479970" y="4243391"/>
            <a:ext cx="4298270" cy="52322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Arial"/>
                <a:ea typeface="Arial"/>
                <a:cs typeface="Arial"/>
                <a:sym typeface="Arial"/>
              </a:rPr>
              <a:t>Print function will create text in console. Usually used for debugging.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 name="Shape 220"/>
        <p:cNvGrpSpPr/>
        <p:nvPr/>
      </p:nvGrpSpPr>
      <p:grpSpPr>
        <a:xfrm>
          <a:off x="0" y="0"/>
          <a:ext cx="0" cy="0"/>
          <a:chOff x="0" y="0"/>
          <a:chExt cx="0" cy="0"/>
        </a:xfrm>
      </p:grpSpPr>
      <p:sp>
        <p:nvSpPr>
          <p:cNvPr id="221" name="Google Shape;221;p1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onChanged and setState</a:t>
            </a:r>
            <a:endParaRPr b="1" sz="3600">
              <a:solidFill>
                <a:srgbClr val="000090"/>
              </a:solidFill>
            </a:endParaRPr>
          </a:p>
        </p:txBody>
      </p:sp>
      <p:cxnSp>
        <p:nvCxnSpPr>
          <p:cNvPr id="222" name="Google Shape;222;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23" name="Google Shape;223;p16"/>
          <p:cNvSpPr txBox="1"/>
          <p:nvPr>
            <p:ph idx="1" type="body"/>
          </p:nvPr>
        </p:nvSpPr>
        <p:spPr>
          <a:xfrm>
            <a:off x="460375" y="737282"/>
            <a:ext cx="8317865" cy="404847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Now we try using </a:t>
            </a:r>
            <a:r>
              <a:rPr b="1" lang="en-ID" sz="1800">
                <a:latin typeface="Calibri"/>
                <a:ea typeface="Calibri"/>
                <a:cs typeface="Calibri"/>
                <a:sym typeface="Calibri"/>
              </a:rPr>
              <a:t>onChanged</a:t>
            </a:r>
            <a:r>
              <a:rPr lang="en-ID" sz="1800">
                <a:latin typeface="Calibri"/>
                <a:ea typeface="Calibri"/>
                <a:cs typeface="Calibri"/>
                <a:sym typeface="Calibri"/>
              </a:rPr>
              <a:t> and followed with </a:t>
            </a:r>
            <a:r>
              <a:rPr b="1" lang="en-ID" sz="1800">
                <a:latin typeface="Calibri"/>
                <a:ea typeface="Calibri"/>
                <a:cs typeface="Calibri"/>
                <a:sym typeface="Calibri"/>
              </a:rPr>
              <a:t>setState</a:t>
            </a:r>
            <a:r>
              <a:rPr lang="en-ID" sz="1800">
                <a:latin typeface="Calibri"/>
                <a:ea typeface="Calibri"/>
                <a:cs typeface="Calibri"/>
                <a:sym typeface="Calibri"/>
              </a:rPr>
              <a:t> to modify the property of another control.  </a:t>
            </a:r>
            <a:endParaRPr/>
          </a:p>
          <a:p>
            <a:pPr indent="0" lvl="0" marL="0" rtl="0" algn="l">
              <a:lnSpc>
                <a:spcPct val="100000"/>
              </a:lnSpc>
              <a:spcBef>
                <a:spcPts val="360"/>
              </a:spcBef>
              <a:spcAft>
                <a:spcPts val="0"/>
              </a:spcAft>
              <a:buClr>
                <a:schemeClr val="dk1"/>
              </a:buClr>
              <a:buSzPts val="1800"/>
              <a:buNone/>
            </a:pPr>
            <a:r>
              <a:rPr lang="en-ID" sz="1800">
                <a:latin typeface="Calibri"/>
                <a:ea typeface="Calibri"/>
                <a:cs typeface="Calibri"/>
                <a:sym typeface="Calibri"/>
              </a:rPr>
              <a:t>We will add new TextField for storing recipe description, we allow user to input until 200 characters. We provide a text showing the number of character left  that can still added in the TextField recipe description.</a:t>
            </a:r>
            <a:endParaRPr/>
          </a:p>
          <a:p>
            <a:pPr indent="0" lvl="0" marL="0" rtl="0" algn="l">
              <a:lnSpc>
                <a:spcPct val="100000"/>
              </a:lnSpc>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lnSpc>
                <a:spcPct val="100000"/>
              </a:lnSpc>
              <a:spcBef>
                <a:spcPts val="360"/>
              </a:spcBef>
              <a:spcAft>
                <a:spcPts val="0"/>
              </a:spcAft>
              <a:buClr>
                <a:schemeClr val="dk1"/>
              </a:buClr>
              <a:buSzPts val="1800"/>
              <a:buNone/>
            </a:pPr>
            <a:r>
              <a:rPr lang="en-ID" sz="1800">
                <a:latin typeface="Calibri"/>
                <a:ea typeface="Calibri"/>
                <a:cs typeface="Calibri"/>
                <a:sym typeface="Calibri"/>
              </a:rPr>
              <a:t>Add another controller.</a:t>
            </a:r>
            <a:endParaRPr/>
          </a:p>
          <a:p>
            <a:pPr indent="0" lvl="0" marL="0" rtl="0" algn="l">
              <a:lnSpc>
                <a:spcPct val="100000"/>
              </a:lnSpc>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final TextEditingController _recipeDescController = TextEditingController();</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r>
              <a:rPr lang="en-ID" sz="1100">
                <a:latin typeface="Consolas"/>
                <a:ea typeface="Consolas"/>
                <a:cs typeface="Consolas"/>
                <a:sym typeface="Consolas"/>
              </a:rPr>
              <a:t>@override</a:t>
            </a:r>
            <a:endParaRPr/>
          </a:p>
          <a:p>
            <a:pPr indent="0" lvl="0" marL="0" rtl="0" algn="l">
              <a:lnSpc>
                <a:spcPct val="100000"/>
              </a:lnSpc>
              <a:spcBef>
                <a:spcPts val="220"/>
              </a:spcBef>
              <a:spcAft>
                <a:spcPts val="0"/>
              </a:spcAft>
              <a:buClr>
                <a:schemeClr val="dk1"/>
              </a:buClr>
              <a:buSzPts val="1100"/>
              <a:buNone/>
            </a:pPr>
            <a:r>
              <a:rPr lang="en-ID" sz="1100">
                <a:latin typeface="Consolas"/>
                <a:ea typeface="Consolas"/>
                <a:cs typeface="Consolas"/>
                <a:sym typeface="Consolas"/>
              </a:rPr>
              <a:t>  void initState() {</a:t>
            </a:r>
            <a:endParaRPr/>
          </a:p>
          <a:p>
            <a:pPr indent="0" lvl="0" marL="0" rtl="0" algn="l">
              <a:lnSpc>
                <a:spcPct val="100000"/>
              </a:lnSpc>
              <a:spcBef>
                <a:spcPts val="220"/>
              </a:spcBef>
              <a:spcAft>
                <a:spcPts val="0"/>
              </a:spcAft>
              <a:buClr>
                <a:schemeClr val="dk1"/>
              </a:buClr>
              <a:buSzPts val="1100"/>
              <a:buNone/>
            </a:pPr>
            <a:r>
              <a:rPr lang="en-ID" sz="1100">
                <a:latin typeface="Consolas"/>
                <a:ea typeface="Consolas"/>
                <a:cs typeface="Consolas"/>
                <a:sym typeface="Consolas"/>
              </a:rPr>
              <a:t>    super.initState();</a:t>
            </a:r>
            <a:endParaRPr/>
          </a:p>
          <a:p>
            <a:pPr indent="0" lvl="0" marL="0" rtl="0" algn="l">
              <a:lnSpc>
                <a:spcPct val="100000"/>
              </a:lnSpc>
              <a:spcBef>
                <a:spcPts val="220"/>
              </a:spcBef>
              <a:spcAft>
                <a:spcPts val="0"/>
              </a:spcAft>
              <a:buClr>
                <a:schemeClr val="dk1"/>
              </a:buClr>
              <a:buSzPts val="1100"/>
              <a:buNone/>
            </a:pPr>
            <a:r>
              <a:rPr lang="en-ID" sz="1100">
                <a:latin typeface="Consolas"/>
                <a:ea typeface="Consolas"/>
                <a:cs typeface="Consolas"/>
                <a:sym typeface="Consolas"/>
              </a:rPr>
              <a:t>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_recipeDescController.text = "Recipe of .."; </a:t>
            </a:r>
            <a:r>
              <a:rPr lang="en-ID" sz="1100">
                <a:latin typeface="Consolas"/>
                <a:ea typeface="Consolas"/>
                <a:cs typeface="Consolas"/>
                <a:sym typeface="Consolas"/>
              </a:rPr>
              <a:t> </a:t>
            </a:r>
            <a:endParaRPr/>
          </a:p>
          <a:p>
            <a:pPr indent="0" lvl="0" marL="0" rtl="0" algn="l">
              <a:lnSpc>
                <a:spcPct val="100000"/>
              </a:lnSpc>
              <a:spcBef>
                <a:spcPts val="220"/>
              </a:spcBef>
              <a:spcAft>
                <a:spcPts val="0"/>
              </a:spcAft>
              <a:buClr>
                <a:schemeClr val="dk1"/>
              </a:buClr>
              <a:buSzPts val="1100"/>
              <a:buNone/>
            </a:pPr>
            <a:r>
              <a:rPr lang="en-ID" sz="1100">
                <a:latin typeface="Consolas"/>
                <a:ea typeface="Consolas"/>
                <a:cs typeface="Consolas"/>
                <a:sym typeface="Consolas"/>
              </a:rPr>
              <a:t>   }</a:t>
            </a:r>
            <a:endParaRPr/>
          </a:p>
          <a:p>
            <a:pPr indent="0" lvl="0" marL="0" rtl="0" algn="l">
              <a:lnSpc>
                <a:spcPct val="100000"/>
              </a:lnSpc>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0" lvl="0" marL="0" rtl="0" algn="l">
              <a:lnSpc>
                <a:spcPct val="100000"/>
              </a:lnSpc>
              <a:spcBef>
                <a:spcPts val="360"/>
              </a:spcBef>
              <a:spcAft>
                <a:spcPts val="0"/>
              </a:spcAft>
              <a:buClr>
                <a:schemeClr val="dk1"/>
              </a:buClr>
              <a:buSzPts val="1800"/>
              <a:buNone/>
            </a:pPr>
            <a:r>
              <a:t/>
            </a:r>
            <a:endParaRPr sz="1800">
              <a:latin typeface="Calibri"/>
              <a:ea typeface="Calibri"/>
              <a:cs typeface="Calibri"/>
              <a:sym typeface="Calibri"/>
            </a:endParaRPr>
          </a:p>
        </p:txBody>
      </p:sp>
      <p:sp>
        <p:nvSpPr>
          <p:cNvPr descr="Google's Flutter framework spreads its wings and goes multi-platform |  TechCrunch" id="224" name="Google Shape;224;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sp>
        <p:nvSpPr>
          <p:cNvPr id="229" name="Google Shape;229;p1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onChanged and setState</a:t>
            </a:r>
            <a:endParaRPr b="1" sz="3600">
              <a:solidFill>
                <a:srgbClr val="000090"/>
              </a:solidFill>
            </a:endParaRPr>
          </a:p>
        </p:txBody>
      </p:sp>
      <p:cxnSp>
        <p:nvCxnSpPr>
          <p:cNvPr id="230" name="Google Shape;230;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31" name="Google Shape;231;p17"/>
          <p:cNvSpPr txBox="1"/>
          <p:nvPr>
            <p:ph idx="1" type="body"/>
          </p:nvPr>
        </p:nvSpPr>
        <p:spPr>
          <a:xfrm>
            <a:off x="87086" y="737282"/>
            <a:ext cx="5197723" cy="404847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Add TextField</a:t>
            </a:r>
            <a:endParaRPr sz="1800">
              <a:latin typeface="Calibri"/>
              <a:ea typeface="Calibri"/>
              <a:cs typeface="Calibri"/>
              <a:sym typeface="Calibri"/>
            </a:endParaRPr>
          </a:p>
          <a:p>
            <a:pPr indent="0" lvl="0" marL="0" rtl="0" algn="l">
              <a:lnSpc>
                <a:spcPct val="100000"/>
              </a:lnSpc>
              <a:spcBef>
                <a:spcPts val="240"/>
              </a:spcBef>
              <a:spcAft>
                <a:spcPts val="0"/>
              </a:spcAft>
              <a:buClr>
                <a:srgbClr val="FF0000"/>
              </a:buClr>
              <a:buSzPts val="1200"/>
              <a:buNone/>
            </a:pPr>
            <a:r>
              <a:rPr lang="en-ID" sz="1200">
                <a:solidFill>
                  <a:srgbClr val="FF0000"/>
                </a:solidFill>
              </a:rPr>
              <a:t> </a:t>
            </a:r>
            <a:r>
              <a:rPr lang="en-ID" sz="1200">
                <a:solidFill>
                  <a:srgbClr val="FF0000"/>
                </a:solidFill>
                <a:latin typeface="Consolas"/>
                <a:ea typeface="Consolas"/>
                <a:cs typeface="Consolas"/>
                <a:sym typeface="Consolas"/>
              </a:rPr>
              <a:t> TextField(</a:t>
            </a:r>
            <a:endParaRPr>
              <a:latin typeface="Consolas"/>
              <a:ea typeface="Consolas"/>
              <a:cs typeface="Consolas"/>
              <a:sym typeface="Consolas"/>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controller: _recipeDescController,</a:t>
            </a:r>
            <a:endParaRPr>
              <a:latin typeface="Consolas"/>
              <a:ea typeface="Consolas"/>
              <a:cs typeface="Consolas"/>
              <a:sym typeface="Consolas"/>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onChanged: (v) {}, </a:t>
            </a:r>
            <a:endParaRPr>
              <a:latin typeface="Consolas"/>
              <a:ea typeface="Consolas"/>
              <a:cs typeface="Consolas"/>
              <a:sym typeface="Consolas"/>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keyboardType: TextInputType.multiline,</a:t>
            </a:r>
            <a:endParaRPr>
              <a:latin typeface="Consolas"/>
              <a:ea typeface="Consolas"/>
              <a:cs typeface="Consolas"/>
              <a:sym typeface="Consolas"/>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minLines: 4,</a:t>
            </a:r>
            <a:endParaRPr>
              <a:latin typeface="Consolas"/>
              <a:ea typeface="Consolas"/>
              <a:cs typeface="Consolas"/>
              <a:sym typeface="Consolas"/>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maxLines: null,</a:t>
            </a:r>
            <a:endParaRPr sz="1200">
              <a:solidFill>
                <a:srgbClr val="FF0000"/>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None/>
            </a:pPr>
            <a:r>
              <a:rPr lang="en-ID" sz="1200">
                <a:solidFill>
                  <a:srgbClr val="001080"/>
                </a:solidFill>
                <a:highlight>
                  <a:srgbClr val="FFFFFF"/>
                </a:highlight>
                <a:latin typeface="Courier New"/>
                <a:ea typeface="Courier New"/>
                <a:cs typeface="Courier New"/>
                <a:sym typeface="Courier New"/>
              </a:rPr>
              <a:t>     maxLength</a:t>
            </a:r>
            <a:r>
              <a:rPr lang="en-ID" sz="1200">
                <a:highlight>
                  <a:srgbClr val="FFFFFF"/>
                </a:highlight>
                <a:latin typeface="Courier New"/>
                <a:ea typeface="Courier New"/>
                <a:cs typeface="Courier New"/>
                <a:sym typeface="Courier New"/>
              </a:rPr>
              <a:t>: </a:t>
            </a:r>
            <a:r>
              <a:rPr lang="en-ID" sz="1200">
                <a:solidFill>
                  <a:srgbClr val="098658"/>
                </a:solidFill>
                <a:highlight>
                  <a:srgbClr val="FFFFFF"/>
                </a:highlight>
                <a:latin typeface="Courier New"/>
                <a:ea typeface="Courier New"/>
                <a:cs typeface="Courier New"/>
                <a:sym typeface="Courier New"/>
              </a:rPr>
              <a:t>200</a:t>
            </a:r>
            <a:endParaRPr sz="1200">
              <a:solidFill>
                <a:srgbClr val="FF0000"/>
              </a:solidFill>
              <a:latin typeface="Consolas"/>
              <a:ea typeface="Consolas"/>
              <a:cs typeface="Consolas"/>
              <a:sym typeface="Consolas"/>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rtl="0" algn="l">
              <a:lnSpc>
                <a:spcPct val="100000"/>
              </a:lnSpc>
              <a:spcBef>
                <a:spcPts val="360"/>
              </a:spcBef>
              <a:spcAft>
                <a:spcPts val="0"/>
              </a:spcAft>
              <a:buClr>
                <a:schemeClr val="dk1"/>
              </a:buClr>
              <a:buSzPts val="1800"/>
              <a:buNone/>
            </a:pPr>
            <a:r>
              <a:rPr lang="en-ID" sz="1800">
                <a:latin typeface="Calibri"/>
                <a:ea typeface="Calibri"/>
                <a:cs typeface="Calibri"/>
                <a:sym typeface="Calibri"/>
              </a:rPr>
              <a:t>Add variable to store char number left. </a:t>
            </a:r>
            <a:endParaRPr/>
          </a:p>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Initiate with 200-character in the description textfield </a:t>
            </a:r>
            <a:endParaRPr sz="1000">
              <a:solidFill>
                <a:srgbClr val="FF0000"/>
              </a:solidFill>
              <a:latin typeface="Consolas"/>
              <a:ea typeface="Consolas"/>
              <a:cs typeface="Consolas"/>
              <a:sym typeface="Consolas"/>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int _charleft=0;</a:t>
            </a:r>
            <a:endParaRPr/>
          </a:p>
          <a:p>
            <a:pPr indent="0" lvl="0" marL="0" rtl="0" algn="l">
              <a:lnSpc>
                <a:spcPct val="100000"/>
              </a:lnSpc>
              <a:spcBef>
                <a:spcPts val="240"/>
              </a:spcBef>
              <a:spcAft>
                <a:spcPts val="0"/>
              </a:spcAft>
              <a:buClr>
                <a:schemeClr val="dk1"/>
              </a:buClr>
              <a:buSzPts val="1200"/>
              <a:buNone/>
            </a:pPr>
            <a:r>
              <a:t/>
            </a:r>
            <a:endParaRPr sz="1200">
              <a:solidFill>
                <a:srgbClr val="FF0000"/>
              </a:solidFill>
              <a:latin typeface="Consolas"/>
              <a:ea typeface="Consolas"/>
              <a:cs typeface="Consolas"/>
              <a:sym typeface="Consolas"/>
            </a:endParaRPr>
          </a:p>
          <a:p>
            <a:pPr indent="0" lvl="0" marL="0" rtl="0" algn="l">
              <a:lnSpc>
                <a:spcPct val="100000"/>
              </a:lnSpc>
              <a:spcBef>
                <a:spcPts val="280"/>
              </a:spcBef>
              <a:spcAft>
                <a:spcPts val="0"/>
              </a:spcAft>
              <a:buClr>
                <a:schemeClr val="dk1"/>
              </a:buClr>
              <a:buSzPts val="1400"/>
              <a:buNone/>
            </a:pPr>
            <a:r>
              <a:rPr lang="en-ID" sz="1400">
                <a:latin typeface="Consolas"/>
                <a:ea typeface="Consolas"/>
                <a:cs typeface="Consolas"/>
                <a:sym typeface="Consolas"/>
              </a:rPr>
              <a:t>initState()….</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_charleft = 200 - _recipeDescController.text.length;</a:t>
            </a:r>
            <a:endParaRPr sz="1200">
              <a:latin typeface="Calibri"/>
              <a:ea typeface="Calibri"/>
              <a:cs typeface="Calibri"/>
              <a:sym typeface="Calibri"/>
            </a:endParaRPr>
          </a:p>
        </p:txBody>
      </p:sp>
      <p:sp>
        <p:nvSpPr>
          <p:cNvPr descr="Google's Flutter framework spreads its wings and goes multi-platform |  TechCrunch" id="232" name="Google Shape;232;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3" name="Google Shape;233;p17"/>
          <p:cNvSpPr txBox="1"/>
          <p:nvPr/>
        </p:nvSpPr>
        <p:spPr>
          <a:xfrm>
            <a:off x="5284809" y="737282"/>
            <a:ext cx="3859191" cy="40484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ID" sz="1800" u="none" cap="none" strike="noStrike">
                <a:solidFill>
                  <a:schemeClr val="dk1"/>
                </a:solidFill>
                <a:latin typeface="Calibri"/>
                <a:ea typeface="Calibri"/>
                <a:cs typeface="Calibri"/>
                <a:sym typeface="Calibri"/>
              </a:rPr>
              <a:t>Add onChanged that update the _charleft variabel and calling setState </a:t>
            </a:r>
            <a:endParaRPr b="0" i="0" sz="1000" u="none" cap="none" strike="noStrike">
              <a:solidFill>
                <a:srgbClr val="FF0000"/>
              </a:solidFill>
              <a:latin typeface="Consolas"/>
              <a:ea typeface="Consolas"/>
              <a:cs typeface="Consolas"/>
              <a:sym typeface="Consolas"/>
            </a:endParaRPr>
          </a:p>
          <a:p>
            <a:pPr indent="0" lvl="0" marL="0" marR="0" rtl="0" algn="l">
              <a:lnSpc>
                <a:spcPct val="100000"/>
              </a:lnSpc>
              <a:spcBef>
                <a:spcPts val="240"/>
              </a:spcBef>
              <a:spcAft>
                <a:spcPts val="0"/>
              </a:spcAft>
              <a:buClr>
                <a:srgbClr val="FF0000"/>
              </a:buClr>
              <a:buSzPts val="1200"/>
              <a:buFont typeface="Arial"/>
              <a:buNone/>
            </a:pPr>
            <a:r>
              <a:rPr b="0" i="0" lang="en-ID" sz="1200" u="none" cap="none" strike="noStrike">
                <a:solidFill>
                  <a:srgbClr val="FF0000"/>
                </a:solidFill>
                <a:latin typeface="Arial"/>
                <a:ea typeface="Arial"/>
                <a:cs typeface="Arial"/>
                <a:sym typeface="Arial"/>
              </a:rPr>
              <a:t>   </a:t>
            </a:r>
            <a:r>
              <a:rPr b="0" i="0" lang="en-ID" sz="1200" u="none" cap="none" strike="noStrike">
                <a:solidFill>
                  <a:schemeClr val="dk1"/>
                </a:solidFill>
                <a:latin typeface="Consolas"/>
                <a:ea typeface="Consolas"/>
                <a:cs typeface="Consolas"/>
                <a:sym typeface="Consolas"/>
              </a:rPr>
              <a:t>onChanged: (v)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40"/>
              </a:spcBef>
              <a:spcAft>
                <a:spcPts val="0"/>
              </a:spcAft>
              <a:buClr>
                <a:schemeClr val="dk1"/>
              </a:buClr>
              <a:buSzPts val="1200"/>
              <a:buFont typeface="Arial"/>
              <a:buNone/>
            </a:pPr>
            <a:r>
              <a:rPr b="0" i="0" lang="en-ID" sz="1200" u="none" cap="none" strike="noStrike">
                <a:solidFill>
                  <a:schemeClr val="dk1"/>
                </a:solidFill>
                <a:latin typeface="Consolas"/>
                <a:ea typeface="Consolas"/>
                <a:cs typeface="Consolas"/>
                <a:sym typeface="Consolas"/>
              </a:rPr>
              <a:t>	</a:t>
            </a:r>
            <a:r>
              <a:rPr b="0" i="0" lang="en-ID" sz="1200" u="none" cap="none" strike="noStrike">
                <a:solidFill>
                  <a:srgbClr val="FF0000"/>
                </a:solidFill>
                <a:latin typeface="Consolas"/>
                <a:ea typeface="Consolas"/>
                <a:cs typeface="Consolas"/>
                <a:sym typeface="Consolas"/>
              </a:rPr>
              <a:t>setState(()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40"/>
              </a:spcBef>
              <a:spcAft>
                <a:spcPts val="0"/>
              </a:spcAft>
              <a:buClr>
                <a:srgbClr val="FF0000"/>
              </a:buClr>
              <a:buSzPts val="1200"/>
              <a:buFont typeface="Arial"/>
              <a:buNone/>
            </a:pPr>
            <a:r>
              <a:rPr b="0" i="0" lang="en-ID" sz="1200" u="none" cap="none" strike="noStrike">
                <a:solidFill>
                  <a:srgbClr val="FF0000"/>
                </a:solidFill>
                <a:latin typeface="Consolas"/>
                <a:ea typeface="Consolas"/>
                <a:cs typeface="Consolas"/>
                <a:sym typeface="Consolas"/>
              </a:rPr>
              <a:t>	          _charleft = 200 - v.length;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40"/>
              </a:spcBef>
              <a:spcAft>
                <a:spcPts val="0"/>
              </a:spcAft>
              <a:buClr>
                <a:srgbClr val="FF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40"/>
              </a:spcBef>
              <a:spcAft>
                <a:spcPts val="0"/>
              </a:spcAft>
              <a:buClr>
                <a:schemeClr val="dk1"/>
              </a:buClr>
              <a:buSzPts val="1200"/>
              <a:buFont typeface="Arial"/>
              <a:buNone/>
            </a:pPr>
            <a:r>
              <a:rPr b="0" i="0" lang="en-ID" sz="1200" u="none" cap="none" strike="noStrike">
                <a:solidFill>
                  <a:schemeClr val="dk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chemeClr val="dk1"/>
              </a:buClr>
              <a:buSzPts val="1000"/>
              <a:buFont typeface="Arial"/>
              <a:buNone/>
            </a:pPr>
            <a:r>
              <a:t/>
            </a:r>
            <a:endParaRPr b="0" i="0" sz="1000" u="none" cap="none" strike="noStrike">
              <a:solidFill>
                <a:srgbClr val="FF0000"/>
              </a:solidFill>
              <a:latin typeface="Consolas"/>
              <a:ea typeface="Consolas"/>
              <a:cs typeface="Consolas"/>
              <a:sym typeface="Consolas"/>
            </a:endParaRPr>
          </a:p>
          <a:p>
            <a:pPr indent="0" lvl="0" marL="0" marR="0" rtl="0" algn="l">
              <a:lnSpc>
                <a:spcPct val="100000"/>
              </a:lnSpc>
              <a:spcBef>
                <a:spcPts val="360"/>
              </a:spcBef>
              <a:spcAft>
                <a:spcPts val="0"/>
              </a:spcAft>
              <a:buClr>
                <a:schemeClr val="dk1"/>
              </a:buClr>
              <a:buSzPts val="1800"/>
              <a:buFont typeface="Arial"/>
              <a:buNone/>
            </a:pPr>
            <a:r>
              <a:rPr b="0" i="0" lang="en-ID" sz="1800" u="none" cap="none" strike="noStrike">
                <a:solidFill>
                  <a:schemeClr val="dk1"/>
                </a:solidFill>
                <a:latin typeface="Calibri"/>
                <a:ea typeface="Calibri"/>
                <a:cs typeface="Calibri"/>
                <a:sym typeface="Calibri"/>
              </a:rPr>
              <a:t>Add Text for showing char number left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40"/>
              </a:spcBef>
              <a:spcAft>
                <a:spcPts val="0"/>
              </a:spcAft>
              <a:buClr>
                <a:srgbClr val="FF0000"/>
              </a:buClr>
              <a:buSzPts val="1200"/>
              <a:buFont typeface="Arial"/>
              <a:buNone/>
            </a:pPr>
            <a:r>
              <a:rPr b="0" i="0" lang="en-ID" sz="1200" u="none" cap="none" strike="noStrike">
                <a:solidFill>
                  <a:srgbClr val="FF0000"/>
                </a:solidFill>
                <a:latin typeface="Consolas"/>
                <a:ea typeface="Consolas"/>
                <a:cs typeface="Consolas"/>
                <a:sym typeface="Consolas"/>
              </a:rPr>
              <a:t>Text("char left : $_charleft")</a:t>
            </a:r>
            <a:endParaRPr b="0" i="0" sz="1800" u="none" cap="none" strike="noStrike">
              <a:solidFill>
                <a:schemeClr val="dk1"/>
              </a:solidFill>
              <a:latin typeface="Calibri"/>
              <a:ea typeface="Calibri"/>
              <a:cs typeface="Calibri"/>
              <a:sym typeface="Calibri"/>
            </a:endParaRPr>
          </a:p>
        </p:txBody>
      </p:sp>
      <p:pic>
        <p:nvPicPr>
          <p:cNvPr id="234" name="Google Shape;234;p17"/>
          <p:cNvPicPr preferRelativeResize="0"/>
          <p:nvPr/>
        </p:nvPicPr>
        <p:blipFill rotWithShape="1">
          <a:blip r:embed="rId4">
            <a:alphaModFix/>
          </a:blip>
          <a:srcRect b="0" l="0" r="0" t="0"/>
          <a:stretch/>
        </p:blipFill>
        <p:spPr>
          <a:xfrm>
            <a:off x="5406390" y="3382194"/>
            <a:ext cx="2396490" cy="1562313"/>
          </a:xfrm>
          <a:prstGeom prst="rect">
            <a:avLst/>
          </a:prstGeom>
          <a:noFill/>
          <a:ln>
            <a:noFill/>
          </a:ln>
        </p:spPr>
      </p:pic>
      <p:cxnSp>
        <p:nvCxnSpPr>
          <p:cNvPr id="235" name="Google Shape;235;p17"/>
          <p:cNvCxnSpPr/>
          <p:nvPr/>
        </p:nvCxnSpPr>
        <p:spPr>
          <a:xfrm rot="10800000">
            <a:off x="2483434" y="1646040"/>
            <a:ext cx="3342600" cy="1218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pic>
        <p:nvPicPr>
          <p:cNvPr id="240" name="Google Shape;240;p18"/>
          <p:cNvPicPr preferRelativeResize="0"/>
          <p:nvPr/>
        </p:nvPicPr>
        <p:blipFill rotWithShape="1">
          <a:blip r:embed="rId4">
            <a:alphaModFix/>
          </a:blip>
          <a:srcRect b="0" l="0" r="0" t="0"/>
          <a:stretch/>
        </p:blipFill>
        <p:spPr>
          <a:xfrm>
            <a:off x="6340393" y="737282"/>
            <a:ext cx="2342052" cy="4149952"/>
          </a:xfrm>
          <a:prstGeom prst="rect">
            <a:avLst/>
          </a:prstGeom>
          <a:noFill/>
          <a:ln>
            <a:noFill/>
          </a:ln>
        </p:spPr>
      </p:pic>
      <p:cxnSp>
        <p:nvCxnSpPr>
          <p:cNvPr id="241" name="Google Shape;241;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2" name="Google Shape;242;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3" name="Google Shape;243;p1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onSubmitted and setState</a:t>
            </a:r>
            <a:endParaRPr b="1" sz="3600">
              <a:solidFill>
                <a:srgbClr val="000090"/>
              </a:solidFill>
            </a:endParaRPr>
          </a:p>
        </p:txBody>
      </p:sp>
      <p:cxnSp>
        <p:nvCxnSpPr>
          <p:cNvPr id="244" name="Google Shape;244;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45" name="Google Shape;245;p18"/>
          <p:cNvSpPr txBox="1"/>
          <p:nvPr>
            <p:ph idx="1" type="body"/>
          </p:nvPr>
        </p:nvSpPr>
        <p:spPr>
          <a:xfrm>
            <a:off x="460375" y="737276"/>
            <a:ext cx="4590600" cy="3413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b="1" lang="en-ID" sz="1800">
                <a:latin typeface="Calibri"/>
                <a:ea typeface="Calibri"/>
                <a:cs typeface="Calibri"/>
                <a:sym typeface="Calibri"/>
              </a:rPr>
              <a:t>onSubmitted</a:t>
            </a:r>
            <a:r>
              <a:rPr lang="en-ID" sz="1800">
                <a:latin typeface="Calibri"/>
                <a:ea typeface="Calibri"/>
                <a:cs typeface="Calibri"/>
                <a:sym typeface="Calibri"/>
              </a:rPr>
              <a:t> is raised when user finishes texting and push Enter or Return keys. Add new TextField for storing photo URL of the recipe. Also add an Image widget to open the URL of the recipe. (don’t forget to setup the controller)</a:t>
            </a:r>
            <a:endParaRPr sz="1200">
              <a:solidFill>
                <a:srgbClr val="FF0000"/>
              </a:solidFill>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TextField(</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controller: _recipePhotoController,</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onSubmitted: (v) {</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setState(() {});</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a:p>
          <a:p>
            <a:pPr indent="0" lvl="0" marL="0" rtl="0" algn="l">
              <a:lnSpc>
                <a:spcPct val="100000"/>
              </a:lnSpc>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Image.network(_recipePhotoController.text)</a:t>
            </a:r>
            <a:endParaRPr sz="1800">
              <a:latin typeface="Calibri"/>
              <a:ea typeface="Calibri"/>
              <a:cs typeface="Calibri"/>
              <a:sym typeface="Calibri"/>
            </a:endParaRPr>
          </a:p>
        </p:txBody>
      </p:sp>
      <p:sp>
        <p:nvSpPr>
          <p:cNvPr id="246" name="Google Shape;246;p18"/>
          <p:cNvSpPr txBox="1"/>
          <p:nvPr/>
        </p:nvSpPr>
        <p:spPr>
          <a:xfrm>
            <a:off x="5050971" y="4316010"/>
            <a:ext cx="4014534" cy="738664"/>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Arial"/>
                <a:ea typeface="Arial"/>
                <a:cs typeface="Arial"/>
                <a:sym typeface="Arial"/>
              </a:rPr>
              <a:t>If you encounter overflow problem while rendering the page, don’t forget to apply SingleChildScrollView</a:t>
            </a:r>
            <a:endParaRPr b="0" i="0" sz="1400" u="none" cap="none" strike="noStrike">
              <a:solidFill>
                <a:schemeClr val="dk1"/>
              </a:solidFill>
              <a:latin typeface="Arial"/>
              <a:ea typeface="Arial"/>
              <a:cs typeface="Arial"/>
              <a:sym typeface="Arial"/>
            </a:endParaRPr>
          </a:p>
        </p:txBody>
      </p:sp>
      <p:sp>
        <p:nvSpPr>
          <p:cNvPr id="247" name="Google Shape;247;p18"/>
          <p:cNvSpPr/>
          <p:nvPr/>
        </p:nvSpPr>
        <p:spPr>
          <a:xfrm>
            <a:off x="5100788" y="1001875"/>
            <a:ext cx="1189800" cy="944400"/>
          </a:xfrm>
          <a:prstGeom prst="wedgeRectCallout">
            <a:avLst>
              <a:gd fmla="val 47737" name="adj1"/>
              <a:gd fmla="val 8149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ID" sz="1100" u="none" cap="none" strike="noStrike">
                <a:solidFill>
                  <a:srgbClr val="000000"/>
                </a:solidFill>
                <a:latin typeface="Arial"/>
                <a:ea typeface="Arial"/>
                <a:cs typeface="Arial"/>
                <a:sym typeface="Arial"/>
              </a:rPr>
              <a:t>press enter key after fill-in url to refresh the image</a:t>
            </a:r>
            <a:endParaRPr b="0" i="0" sz="1100" u="none" cap="none" strike="noStrike">
              <a:solidFill>
                <a:srgbClr val="000000"/>
              </a:solidFill>
              <a:latin typeface="Arial"/>
              <a:ea typeface="Arial"/>
              <a:cs typeface="Arial"/>
              <a:sym typeface="Arial"/>
            </a:endParaRPr>
          </a:p>
        </p:txBody>
      </p:sp>
      <p:sp>
        <p:nvSpPr>
          <p:cNvPr id="248" name="Google Shape;248;p18"/>
          <p:cNvSpPr txBox="1"/>
          <p:nvPr/>
        </p:nvSpPr>
        <p:spPr>
          <a:xfrm>
            <a:off x="219600" y="4055925"/>
            <a:ext cx="4352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a:t>You can put ‘no image icon’ for default image before user set the URL. ex: https://ubaya.cloud/no_image.jpg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2" name="Shape 252"/>
        <p:cNvGrpSpPr/>
        <p:nvPr/>
      </p:nvGrpSpPr>
      <p:grpSpPr>
        <a:xfrm>
          <a:off x="0" y="0"/>
          <a:ext cx="0" cy="0"/>
          <a:chOff x="0" y="0"/>
          <a:chExt cx="0" cy="0"/>
        </a:xfrm>
      </p:grpSpPr>
      <p:sp>
        <p:nvSpPr>
          <p:cNvPr id="253" name="Google Shape;253;p19"/>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DAE5F1"/>
              </a:buClr>
              <a:buSzPts val="6000"/>
              <a:buFont typeface="Arial"/>
              <a:buNone/>
            </a:pPr>
            <a:r>
              <a:rPr b="1" lang="en-ID" sz="6000">
                <a:solidFill>
                  <a:srgbClr val="DAE5F1"/>
                </a:solidFill>
              </a:rPr>
              <a:t>BUTTONS</a:t>
            </a:r>
            <a:endParaRPr/>
          </a:p>
        </p:txBody>
      </p:sp>
      <p:sp>
        <p:nvSpPr>
          <p:cNvPr id="254" name="Google Shape;254;p19"/>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sp>
        <p:nvSpPr>
          <p:cNvPr id="259" name="Google Shape;259;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Buttons</a:t>
            </a:r>
            <a:endParaRPr/>
          </a:p>
        </p:txBody>
      </p:sp>
      <p:cxnSp>
        <p:nvCxnSpPr>
          <p:cNvPr id="260" name="Google Shape;260;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1" name="Google Shape;261;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2" name="Google Shape;262;p20"/>
          <p:cNvSpPr/>
          <p:nvPr/>
        </p:nvSpPr>
        <p:spPr>
          <a:xfrm>
            <a:off x="307975" y="993548"/>
            <a:ext cx="8351520" cy="230832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Three types: </a:t>
            </a:r>
            <a:r>
              <a:rPr b="1" i="0" lang="en-ID" sz="1800" u="none" cap="none" strike="noStrike">
                <a:solidFill>
                  <a:schemeClr val="dk1"/>
                </a:solidFill>
                <a:latin typeface="Arial"/>
                <a:ea typeface="Arial"/>
                <a:cs typeface="Arial"/>
                <a:sym typeface="Arial"/>
              </a:rPr>
              <a:t>TextButton</a:t>
            </a:r>
            <a:r>
              <a:rPr b="0" i="0" lang="en-ID" sz="1800" u="none" cap="none" strike="noStrike">
                <a:solidFill>
                  <a:schemeClr val="dk1"/>
                </a:solidFill>
                <a:latin typeface="Roboto"/>
                <a:ea typeface="Roboto"/>
                <a:cs typeface="Roboto"/>
                <a:sym typeface="Roboto"/>
              </a:rPr>
              <a:t>, </a:t>
            </a:r>
            <a:r>
              <a:rPr b="1" i="0" lang="en-ID" sz="1800" u="none" cap="none" strike="noStrike">
                <a:solidFill>
                  <a:schemeClr val="dk1"/>
                </a:solidFill>
                <a:latin typeface="Arial"/>
                <a:ea typeface="Arial"/>
                <a:cs typeface="Arial"/>
                <a:sym typeface="Arial"/>
              </a:rPr>
              <a:t>ElevatedButton</a:t>
            </a:r>
            <a:r>
              <a:rPr b="0" i="0" lang="en-ID" sz="1800" u="none" cap="none" strike="noStrike">
                <a:solidFill>
                  <a:schemeClr val="dk1"/>
                </a:solidFill>
                <a:latin typeface="Roboto"/>
                <a:ea typeface="Roboto"/>
                <a:cs typeface="Roboto"/>
                <a:sym typeface="Roboto"/>
              </a:rPr>
              <a:t>, and </a:t>
            </a:r>
            <a:r>
              <a:rPr b="1" i="0" lang="en-ID" sz="1800" u="none" cap="none" strike="noStrike">
                <a:solidFill>
                  <a:schemeClr val="dk1"/>
                </a:solidFill>
                <a:latin typeface="Arial"/>
                <a:ea typeface="Arial"/>
                <a:cs typeface="Arial"/>
                <a:sym typeface="Arial"/>
              </a:rPr>
              <a:t>OutlinedButton</a:t>
            </a:r>
            <a:endParaRPr b="1" i="0" sz="1800" u="none" cap="none" strike="noStrike">
              <a:solidFill>
                <a:schemeClr val="dk1"/>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Each new button class has its own theme: </a:t>
            </a:r>
            <a:r>
              <a:rPr b="1" i="0" lang="en-ID" sz="1800" u="none" cap="none" strike="noStrike">
                <a:solidFill>
                  <a:schemeClr val="dk1"/>
                </a:solidFill>
                <a:latin typeface="Roboto"/>
                <a:ea typeface="Roboto"/>
                <a:cs typeface="Roboto"/>
                <a:sym typeface="Roboto"/>
              </a:rPr>
              <a:t>TextButtonTheme</a:t>
            </a:r>
            <a:r>
              <a:rPr b="0" i="0" lang="en-ID" sz="1800" u="none" cap="none" strike="noStrike">
                <a:solidFill>
                  <a:schemeClr val="dk1"/>
                </a:solidFill>
                <a:latin typeface="Roboto"/>
                <a:ea typeface="Roboto"/>
                <a:cs typeface="Roboto"/>
                <a:sym typeface="Roboto"/>
              </a:rPr>
              <a:t>, </a:t>
            </a:r>
            <a:r>
              <a:rPr b="1" i="0" lang="en-ID" sz="1800" u="none" cap="none" strike="noStrike">
                <a:solidFill>
                  <a:schemeClr val="dk1"/>
                </a:solidFill>
                <a:latin typeface="Roboto"/>
                <a:ea typeface="Roboto"/>
                <a:cs typeface="Roboto"/>
                <a:sym typeface="Roboto"/>
              </a:rPr>
              <a:t>ElevatedButtonTheme</a:t>
            </a:r>
            <a:r>
              <a:rPr b="0" i="0" lang="en-ID" sz="1800" u="none" cap="none" strike="noStrike">
                <a:solidFill>
                  <a:schemeClr val="dk1"/>
                </a:solidFill>
                <a:latin typeface="Roboto"/>
                <a:ea typeface="Roboto"/>
                <a:cs typeface="Roboto"/>
                <a:sym typeface="Roboto"/>
              </a:rPr>
              <a:t>, and </a:t>
            </a:r>
            <a:r>
              <a:rPr b="1" i="0" lang="en-ID" sz="1800" u="none" cap="none" strike="noStrike">
                <a:solidFill>
                  <a:schemeClr val="dk1"/>
                </a:solidFill>
                <a:latin typeface="Roboto"/>
                <a:ea typeface="Roboto"/>
                <a:cs typeface="Roboto"/>
                <a:sym typeface="Roboto"/>
              </a:rPr>
              <a:t>OutlinedButtonTheme</a:t>
            </a:r>
            <a:endParaRPr b="1" i="0" sz="1800" u="none" cap="none" strike="noStrike">
              <a:solidFill>
                <a:schemeClr val="dk1"/>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The appearance of buttons is specified by a </a:t>
            </a:r>
            <a:r>
              <a:rPr b="1" i="0" lang="en-ID" sz="1800" u="none" cap="none" strike="noStrike">
                <a:solidFill>
                  <a:schemeClr val="dk1"/>
                </a:solidFill>
                <a:latin typeface="Arial"/>
                <a:ea typeface="Arial"/>
                <a:cs typeface="Arial"/>
                <a:sym typeface="Arial"/>
              </a:rPr>
              <a:t>ButtonStyle</a:t>
            </a:r>
            <a:r>
              <a:rPr b="0" i="0" lang="en-ID" sz="1800" u="none" cap="none" strike="noStrike">
                <a:solidFill>
                  <a:schemeClr val="dk1"/>
                </a:solidFill>
                <a:latin typeface="Roboto"/>
                <a:ea typeface="Roboto"/>
                <a:cs typeface="Roboto"/>
                <a:sym typeface="Roboto"/>
              </a:rPr>
              <a:t> object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The button themes are also configured with a </a:t>
            </a:r>
            <a:r>
              <a:rPr b="1" i="0" lang="en-ID" sz="1800" u="none" cap="none" strike="noStrike">
                <a:solidFill>
                  <a:schemeClr val="dk1"/>
                </a:solidFill>
                <a:latin typeface="Arial"/>
                <a:ea typeface="Arial"/>
                <a:cs typeface="Arial"/>
                <a:sym typeface="Arial"/>
              </a:rPr>
              <a:t>ButtonStyle</a:t>
            </a:r>
            <a:r>
              <a:rPr b="0" i="0" lang="en-ID" sz="1800" u="none" cap="none" strike="noStrike">
                <a:solidFill>
                  <a:schemeClr val="dk1"/>
                </a:solidFill>
                <a:latin typeface="Roboto"/>
                <a:ea typeface="Roboto"/>
                <a:cs typeface="Roboto"/>
                <a:sym typeface="Roboto"/>
              </a:rPr>
              <a:t> object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A </a:t>
            </a:r>
            <a:r>
              <a:rPr b="1" i="0" lang="en-ID" sz="1800" u="none" cap="none" strike="noStrike">
                <a:solidFill>
                  <a:schemeClr val="dk1"/>
                </a:solidFill>
                <a:latin typeface="Arial"/>
                <a:ea typeface="Arial"/>
                <a:cs typeface="Arial"/>
                <a:sym typeface="Arial"/>
              </a:rPr>
              <a:t>ButtonStyle</a:t>
            </a:r>
            <a:r>
              <a:rPr b="0" i="0" lang="en-ID" sz="1800" u="none" cap="none" strike="noStrike">
                <a:solidFill>
                  <a:schemeClr val="dk1"/>
                </a:solidFill>
                <a:latin typeface="Roboto"/>
                <a:ea typeface="Roboto"/>
                <a:cs typeface="Roboto"/>
                <a:sym typeface="Roboto"/>
              </a:rPr>
              <a:t> is itself just a collection of visual properties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Many of these properties are defined with </a:t>
            </a:r>
            <a:r>
              <a:rPr b="1" i="0" lang="en-ID" sz="1800" u="none" cap="none" strike="noStrike">
                <a:solidFill>
                  <a:schemeClr val="dk1"/>
                </a:solidFill>
                <a:latin typeface="Arial"/>
                <a:ea typeface="Arial"/>
                <a:cs typeface="Arial"/>
                <a:sym typeface="Arial"/>
              </a:rPr>
              <a:t>MaterialStateProperty</a:t>
            </a:r>
            <a:r>
              <a:rPr b="0" i="0" lang="en-ID" sz="1800" u="none" cap="none" strike="noStrike">
                <a:solidFill>
                  <a:schemeClr val="dk1"/>
                </a:solidFill>
                <a:latin typeface="Roboto"/>
                <a:ea typeface="Roboto"/>
                <a:cs typeface="Roboto"/>
                <a:sym typeface="Roboto"/>
              </a:rPr>
              <a:t>, which means that their value can depend on the button’s state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6" name="Shape 266"/>
        <p:cNvGrpSpPr/>
        <p:nvPr/>
      </p:nvGrpSpPr>
      <p:grpSpPr>
        <a:xfrm>
          <a:off x="0" y="0"/>
          <a:ext cx="0" cy="0"/>
          <a:chOff x="0" y="0"/>
          <a:chExt cx="0" cy="0"/>
        </a:xfrm>
      </p:grpSpPr>
      <p:sp>
        <p:nvSpPr>
          <p:cNvPr id="267" name="Google Shape;267;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ButtonStyle</a:t>
            </a:r>
            <a:endParaRPr b="1" sz="3600">
              <a:solidFill>
                <a:srgbClr val="000090"/>
              </a:solidFill>
            </a:endParaRPr>
          </a:p>
        </p:txBody>
      </p:sp>
      <p:cxnSp>
        <p:nvCxnSpPr>
          <p:cNvPr id="268" name="Google Shape;268;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9" name="Google Shape;269;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0" name="Google Shape;270;p21"/>
          <p:cNvSpPr/>
          <p:nvPr/>
        </p:nvSpPr>
        <p:spPr>
          <a:xfrm>
            <a:off x="307975" y="655320"/>
            <a:ext cx="8509454" cy="41549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4">
                  <a:extLst>
                    <a:ext uri="{A12FA001-AC4F-418D-AE19-62706E023703}">
                      <ahyp:hlinkClr val="tx"/>
                    </a:ext>
                  </a:extLst>
                </a:hlinkClick>
              </a:rPr>
              <a:t>alignment</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5">
                  <a:extLst>
                    <a:ext uri="{A12FA001-AC4F-418D-AE19-62706E023703}">
                      <ahyp:hlinkClr val="tx"/>
                    </a:ext>
                  </a:extLst>
                </a:hlinkClick>
              </a:rPr>
              <a:t>AlignmentGeometry</a:t>
            </a:r>
            <a:r>
              <a:rPr b="0" i="0" lang="en-ID" sz="1100" u="none" cap="none" strike="noStrike">
                <a:solidFill>
                  <a:srgbClr val="000000"/>
                </a:solidFill>
                <a:latin typeface="Consolas"/>
                <a:ea typeface="Consolas"/>
                <a:cs typeface="Consolas"/>
                <a:sym typeface="Consolas"/>
              </a:rPr>
              <a: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alignment of the button's child.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6">
                  <a:extLst>
                    <a:ext uri="{A12FA001-AC4F-418D-AE19-62706E023703}">
                      <ahyp:hlinkClr val="tx"/>
                    </a:ext>
                  </a:extLst>
                </a:hlinkClick>
              </a:rPr>
              <a:t>backgroundColor</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7">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8">
                  <a:extLst>
                    <a:ext uri="{A12FA001-AC4F-418D-AE19-62706E023703}">
                      <ahyp:hlinkClr val="tx"/>
                    </a:ext>
                  </a:extLst>
                </a:hlinkClick>
              </a:rPr>
              <a:t>Color</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button's background fill color.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9">
                  <a:extLst>
                    <a:ext uri="{A12FA001-AC4F-418D-AE19-62706E023703}">
                      <ahyp:hlinkClr val="tx"/>
                    </a:ext>
                  </a:extLst>
                </a:hlinkClick>
              </a:rPr>
              <a:t>elevation</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10">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11">
                  <a:extLst>
                    <a:ext uri="{A12FA001-AC4F-418D-AE19-62706E023703}">
                      <ahyp:hlinkClr val="tx"/>
                    </a:ext>
                  </a:extLst>
                </a:hlinkClick>
              </a:rPr>
              <a:t>double</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elevation of the button's </a:t>
            </a:r>
            <a:r>
              <a:rPr b="0" i="0" lang="en-ID" sz="1100" u="sng" cap="none" strike="noStrike">
                <a:solidFill>
                  <a:srgbClr val="DCA10D"/>
                </a:solidFill>
                <a:latin typeface="Consolas"/>
                <a:ea typeface="Consolas"/>
                <a:cs typeface="Consolas"/>
                <a:sym typeface="Consolas"/>
                <a:hlinkClick r:id="rId12">
                  <a:extLst>
                    <a:ext uri="{A12FA001-AC4F-418D-AE19-62706E023703}">
                      <ahyp:hlinkClr val="tx"/>
                    </a:ext>
                  </a:extLst>
                </a:hlinkClick>
              </a:rPr>
              <a:t>Material</a:t>
            </a:r>
            <a:r>
              <a:rPr b="0" i="0" lang="en-ID" sz="11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13">
                  <a:extLst>
                    <a:ext uri="{A12FA001-AC4F-418D-AE19-62706E023703}">
                      <ahyp:hlinkClr val="tx"/>
                    </a:ext>
                  </a:extLst>
                </a:hlinkClick>
              </a:rPr>
              <a:t>fixedSize</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14">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15">
                  <a:extLst>
                    <a:ext uri="{A12FA001-AC4F-418D-AE19-62706E023703}">
                      <ahyp:hlinkClr val="tx"/>
                    </a:ext>
                  </a:extLst>
                </a:hlinkClick>
              </a:rPr>
              <a:t>Size</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button's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16">
                  <a:extLst>
                    <a:ext uri="{A12FA001-AC4F-418D-AE19-62706E023703}">
                      <ahyp:hlinkClr val="tx"/>
                    </a:ext>
                  </a:extLst>
                </a:hlinkClick>
              </a:rPr>
              <a:t>foregroundColor</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17">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18">
                  <a:extLst>
                    <a:ext uri="{A12FA001-AC4F-418D-AE19-62706E023703}">
                      <ahyp:hlinkClr val="tx"/>
                    </a:ext>
                  </a:extLst>
                </a:hlinkClick>
              </a:rPr>
              <a:t>Color</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color for the button's </a:t>
            </a:r>
            <a:r>
              <a:rPr b="0" i="0" lang="en-ID" sz="1100" u="sng" cap="none" strike="noStrike">
                <a:solidFill>
                  <a:srgbClr val="DCA10D"/>
                </a:solidFill>
                <a:latin typeface="Consolas"/>
                <a:ea typeface="Consolas"/>
                <a:cs typeface="Consolas"/>
                <a:sym typeface="Consolas"/>
                <a:hlinkClick r:id="rId19">
                  <a:extLst>
                    <a:ext uri="{A12FA001-AC4F-418D-AE19-62706E023703}">
                      <ahyp:hlinkClr val="tx"/>
                    </a:ext>
                  </a:extLst>
                </a:hlinkClick>
              </a:rPr>
              <a:t>Text</a:t>
            </a:r>
            <a:r>
              <a:rPr b="0" i="0" lang="en-ID" sz="1100" u="none" cap="none" strike="noStrike">
                <a:solidFill>
                  <a:schemeClr val="dk1"/>
                </a:solidFill>
                <a:latin typeface="Consolas"/>
                <a:ea typeface="Consolas"/>
                <a:cs typeface="Consolas"/>
                <a:sym typeface="Consolas"/>
              </a:rPr>
              <a:t> and </a:t>
            </a:r>
            <a:r>
              <a:rPr b="0" i="0" lang="en-ID" sz="1100" u="sng" cap="none" strike="noStrike">
                <a:solidFill>
                  <a:srgbClr val="DCA10D"/>
                </a:solidFill>
                <a:latin typeface="Consolas"/>
                <a:ea typeface="Consolas"/>
                <a:cs typeface="Consolas"/>
                <a:sym typeface="Consolas"/>
                <a:hlinkClick r:id="rId20">
                  <a:extLst>
                    <a:ext uri="{A12FA001-AC4F-418D-AE19-62706E023703}">
                      <ahyp:hlinkClr val="tx"/>
                    </a:ext>
                  </a:extLst>
                </a:hlinkClick>
              </a:rPr>
              <a:t>Icon</a:t>
            </a:r>
            <a:r>
              <a:rPr b="0" i="0" lang="en-ID" sz="1100" u="none" cap="none" strike="noStrike">
                <a:solidFill>
                  <a:schemeClr val="dk1"/>
                </a:solidFill>
                <a:latin typeface="Consolas"/>
                <a:ea typeface="Consolas"/>
                <a:cs typeface="Consolas"/>
                <a:sym typeface="Consolas"/>
              </a:rPr>
              <a:t> widget descendants.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21">
                  <a:extLst>
                    <a:ext uri="{A12FA001-AC4F-418D-AE19-62706E023703}">
                      <ahyp:hlinkClr val="tx"/>
                    </a:ext>
                  </a:extLst>
                </a:hlinkClick>
              </a:rPr>
              <a:t>mouseCursor</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22">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23">
                  <a:extLst>
                    <a:ext uri="{A12FA001-AC4F-418D-AE19-62706E023703}">
                      <ahyp:hlinkClr val="tx"/>
                    </a:ext>
                  </a:extLst>
                </a:hlinkClick>
              </a:rPr>
              <a:t>MouseCursor</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cursor for a mouse pointer when it enters or is hovering over this button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24">
                  <a:extLst>
                    <a:ext uri="{A12FA001-AC4F-418D-AE19-62706E023703}">
                      <ahyp:hlinkClr val="tx"/>
                    </a:ext>
                  </a:extLst>
                </a:hlinkClick>
              </a:rPr>
              <a:t>overlayColor</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25">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26">
                  <a:extLst>
                    <a:ext uri="{A12FA001-AC4F-418D-AE19-62706E023703}">
                      <ahyp:hlinkClr val="tx"/>
                    </a:ext>
                  </a:extLst>
                </a:hlinkClick>
              </a:rPr>
              <a:t>Color</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highlight color that's typically used to indicate that the button is focused, hovered, or pressed.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27">
                  <a:extLst>
                    <a:ext uri="{A12FA001-AC4F-418D-AE19-62706E023703}">
                      <ahyp:hlinkClr val="tx"/>
                    </a:ext>
                  </a:extLst>
                </a:hlinkClick>
              </a:rPr>
              <a:t>padding</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28">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29">
                  <a:extLst>
                    <a:ext uri="{A12FA001-AC4F-418D-AE19-62706E023703}">
                      <ahyp:hlinkClr val="tx"/>
                    </a:ext>
                  </a:extLst>
                </a:hlinkClick>
              </a:rPr>
              <a:t>EdgeInsetsGeometry</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padding between the button's boundary and its child.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30">
                  <a:extLst>
                    <a:ext uri="{A12FA001-AC4F-418D-AE19-62706E023703}">
                      <ahyp:hlinkClr val="tx"/>
                    </a:ext>
                  </a:extLst>
                </a:hlinkClick>
              </a:rPr>
              <a:t>shadowColor</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31">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32">
                  <a:extLst>
                    <a:ext uri="{A12FA001-AC4F-418D-AE19-62706E023703}">
                      <ahyp:hlinkClr val="tx"/>
                    </a:ext>
                  </a:extLst>
                </a:hlinkClick>
              </a:rPr>
              <a:t>Color</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shadow color of the button's </a:t>
            </a:r>
            <a:r>
              <a:rPr b="0" i="0" lang="en-ID" sz="1100" u="sng" cap="none" strike="noStrike">
                <a:solidFill>
                  <a:srgbClr val="DCA10D"/>
                </a:solidFill>
                <a:latin typeface="Consolas"/>
                <a:ea typeface="Consolas"/>
                <a:cs typeface="Consolas"/>
                <a:sym typeface="Consolas"/>
                <a:hlinkClick r:id="rId33">
                  <a:extLst>
                    <a:ext uri="{A12FA001-AC4F-418D-AE19-62706E023703}">
                      <ahyp:hlinkClr val="tx"/>
                    </a:ext>
                  </a:extLst>
                </a:hlinkClick>
              </a:rPr>
              <a:t>Material</a:t>
            </a:r>
            <a:r>
              <a:rPr b="0" i="0" lang="en-ID" sz="1100" u="none" cap="none" strike="noStrike">
                <a:solidFill>
                  <a:schemeClr val="dk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34">
                  <a:extLst>
                    <a:ext uri="{A12FA001-AC4F-418D-AE19-62706E023703}">
                      <ahyp:hlinkClr val="tx"/>
                    </a:ext>
                  </a:extLst>
                </a:hlinkClick>
              </a:rPr>
              <a:t>shape</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35">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36">
                  <a:extLst>
                    <a:ext uri="{A12FA001-AC4F-418D-AE19-62706E023703}">
                      <ahyp:hlinkClr val="tx"/>
                    </a:ext>
                  </a:extLst>
                </a:hlinkClick>
              </a:rPr>
              <a:t>OutlinedBorder</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shape of the button's underlying </a:t>
            </a:r>
            <a:r>
              <a:rPr b="0" i="0" lang="en-ID" sz="1100" u="sng" cap="none" strike="noStrike">
                <a:solidFill>
                  <a:srgbClr val="DCA10D"/>
                </a:solidFill>
                <a:latin typeface="Consolas"/>
                <a:ea typeface="Consolas"/>
                <a:cs typeface="Consolas"/>
                <a:sym typeface="Consolas"/>
                <a:hlinkClick r:id="rId37">
                  <a:extLst>
                    <a:ext uri="{A12FA001-AC4F-418D-AE19-62706E023703}">
                      <ahyp:hlinkClr val="tx"/>
                    </a:ext>
                  </a:extLst>
                </a:hlinkClick>
              </a:rPr>
              <a:t>Material</a:t>
            </a:r>
            <a:r>
              <a:rPr b="0" i="0" lang="en-ID" sz="11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38">
                  <a:extLst>
                    <a:ext uri="{A12FA001-AC4F-418D-AE19-62706E023703}">
                      <ahyp:hlinkClr val="tx"/>
                    </a:ext>
                  </a:extLst>
                </a:hlinkClick>
              </a:rPr>
              <a:t>side</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39">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40">
                  <a:extLst>
                    <a:ext uri="{A12FA001-AC4F-418D-AE19-62706E023703}">
                      <ahyp:hlinkClr val="tx"/>
                    </a:ext>
                  </a:extLst>
                </a:hlinkClick>
              </a:rPr>
              <a:t>BorderSide</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color and weight of the button's outline.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ID" sz="1100" u="sng" cap="none" strike="noStrike">
                <a:solidFill>
                  <a:srgbClr val="DCA10D"/>
                </a:solidFill>
                <a:latin typeface="Consolas"/>
                <a:ea typeface="Consolas"/>
                <a:cs typeface="Consolas"/>
                <a:sym typeface="Consolas"/>
                <a:hlinkClick r:id="rId41">
                  <a:extLst>
                    <a:ext uri="{A12FA001-AC4F-418D-AE19-62706E023703}">
                      <ahyp:hlinkClr val="tx"/>
                    </a:ext>
                  </a:extLst>
                </a:hlinkClick>
              </a:rPr>
              <a:t>textStyle</a:t>
            </a:r>
            <a:r>
              <a:rPr b="0" i="0" lang="en-ID" sz="1100" u="none" cap="none" strike="noStrike">
                <a:solidFill>
                  <a:srgbClr val="000000"/>
                </a:solidFill>
                <a:latin typeface="Consolas"/>
                <a:ea typeface="Consolas"/>
                <a:cs typeface="Consolas"/>
                <a:sym typeface="Consolas"/>
              </a:rPr>
              <a:t> → </a:t>
            </a:r>
            <a:r>
              <a:rPr b="0" i="0" lang="en-ID" sz="1100" u="sng" cap="none" strike="noStrike">
                <a:solidFill>
                  <a:srgbClr val="000000"/>
                </a:solidFill>
                <a:latin typeface="Consolas"/>
                <a:ea typeface="Consolas"/>
                <a:cs typeface="Consolas"/>
                <a:sym typeface="Consolas"/>
                <a:hlinkClick r:id="rId42">
                  <a:extLst>
                    <a:ext uri="{A12FA001-AC4F-418D-AE19-62706E023703}">
                      <ahyp:hlinkClr val="tx"/>
                    </a:ext>
                  </a:extLst>
                </a:hlinkClick>
              </a:rPr>
              <a:t>MaterialStateProperty</a:t>
            </a:r>
            <a:r>
              <a:rPr b="0" i="0" lang="en-ID" sz="1100" u="none" cap="none" strike="noStrike">
                <a:solidFill>
                  <a:srgbClr val="000000"/>
                </a:solidFill>
                <a:latin typeface="Consolas"/>
                <a:ea typeface="Consolas"/>
                <a:cs typeface="Consolas"/>
                <a:sym typeface="Consolas"/>
              </a:rPr>
              <a:t>&lt;</a:t>
            </a:r>
            <a:r>
              <a:rPr b="0" i="0" lang="en-ID" sz="1100" u="sng" cap="none" strike="noStrike">
                <a:solidFill>
                  <a:srgbClr val="000000"/>
                </a:solidFill>
                <a:latin typeface="Consolas"/>
                <a:ea typeface="Consolas"/>
                <a:cs typeface="Consolas"/>
                <a:sym typeface="Consolas"/>
                <a:hlinkClick r:id="rId43">
                  <a:extLst>
                    <a:ext uri="{A12FA001-AC4F-418D-AE19-62706E023703}">
                      <ahyp:hlinkClr val="tx"/>
                    </a:ext>
                  </a:extLst>
                </a:hlinkClick>
              </a:rPr>
              <a:t>TextStyle</a:t>
            </a:r>
            <a:r>
              <a:rPr b="0" i="0" lang="en-ID" sz="1100" u="none" cap="none" strike="noStrike">
                <a:solidFill>
                  <a:srgbClr val="000000"/>
                </a:solidFill>
                <a:latin typeface="Consolas"/>
                <a:ea typeface="Consolas"/>
                <a:cs typeface="Consolas"/>
                <a:sym typeface="Consolas"/>
              </a:rPr>
              <a:t>?&gt;?</a:t>
            </a:r>
            <a:endParaRPr b="0" i="0" sz="1100" u="none" cap="none" strike="noStrike">
              <a:solidFill>
                <a:srgbClr val="DCA10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ID" sz="1100" u="none" cap="none" strike="noStrike">
                <a:solidFill>
                  <a:schemeClr val="dk1"/>
                </a:solidFill>
                <a:latin typeface="Consolas"/>
                <a:ea typeface="Consolas"/>
                <a:cs typeface="Consolas"/>
                <a:sym typeface="Consolas"/>
              </a:rPr>
              <a:t>The style for a button's </a:t>
            </a:r>
            <a:r>
              <a:rPr b="0" i="0" lang="en-ID" sz="1100" u="sng" cap="none" strike="noStrike">
                <a:solidFill>
                  <a:srgbClr val="DCA10D"/>
                </a:solidFill>
                <a:latin typeface="Consolas"/>
                <a:ea typeface="Consolas"/>
                <a:cs typeface="Consolas"/>
                <a:sym typeface="Consolas"/>
                <a:hlinkClick r:id="rId44">
                  <a:extLst>
                    <a:ext uri="{A12FA001-AC4F-418D-AE19-62706E023703}">
                      <ahyp:hlinkClr val="tx"/>
                    </a:ext>
                  </a:extLst>
                </a:hlinkClick>
              </a:rPr>
              <a:t>Text</a:t>
            </a:r>
            <a:r>
              <a:rPr b="0" i="0" lang="en-ID" sz="1100" u="none" cap="none" strike="noStrike">
                <a:solidFill>
                  <a:schemeClr val="dk1"/>
                </a:solidFill>
                <a:latin typeface="Consolas"/>
                <a:ea typeface="Consolas"/>
                <a:cs typeface="Consolas"/>
                <a:sym typeface="Consolas"/>
              </a:rPr>
              <a:t> widget descendants. </a:t>
            </a:r>
            <a:endParaRPr b="0" i="0" sz="1100" u="none" cap="none" strike="noStrike">
              <a:solidFill>
                <a:schemeClr val="dk1"/>
              </a:solidFill>
              <a:latin typeface="Consolas"/>
              <a:ea typeface="Consolas"/>
              <a:cs typeface="Consolas"/>
              <a:sym typeface="Consolas"/>
            </a:endParaRPr>
          </a:p>
        </p:txBody>
      </p:sp>
      <p:sp>
        <p:nvSpPr>
          <p:cNvPr id="271" name="Google Shape;271;p21"/>
          <p:cNvSpPr/>
          <p:nvPr/>
        </p:nvSpPr>
        <p:spPr>
          <a:xfrm>
            <a:off x="4572000" y="828625"/>
            <a:ext cx="4086000" cy="1120200"/>
          </a:xfrm>
          <a:prstGeom prst="roundRect">
            <a:avLst>
              <a:gd fmla="val 16667" name="adj"/>
            </a:avLst>
          </a:prstGeom>
          <a:solidFill>
            <a:srgbClr val="B6D7A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ID" sz="1400" u="none" cap="none" strike="noStrike">
                <a:solidFill>
                  <a:srgbClr val="000000"/>
                </a:solidFill>
                <a:latin typeface="Arial"/>
                <a:ea typeface="Arial"/>
                <a:cs typeface="Arial"/>
                <a:sym typeface="Arial"/>
              </a:rPr>
              <a:t>For more information, please refer to </a:t>
            </a:r>
            <a:r>
              <a:rPr b="0" i="0" lang="en-ID" sz="1400" u="sng" cap="none" strike="noStrike">
                <a:solidFill>
                  <a:schemeClr val="hlink"/>
                </a:solidFill>
                <a:latin typeface="Arial"/>
                <a:ea typeface="Arial"/>
                <a:cs typeface="Arial"/>
                <a:sym typeface="Arial"/>
                <a:hlinkClick r:id="rId45"/>
              </a:rPr>
              <a:t>https://api.flutter.dev/flutter/material/ButtonStyle/ButtonStyle.html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5" name="Shape 275"/>
        <p:cNvGrpSpPr/>
        <p:nvPr/>
      </p:nvGrpSpPr>
      <p:grpSpPr>
        <a:xfrm>
          <a:off x="0" y="0"/>
          <a:ext cx="0" cy="0"/>
          <a:chOff x="0" y="0"/>
          <a:chExt cx="0" cy="0"/>
        </a:xfrm>
      </p:grpSpPr>
      <p:sp>
        <p:nvSpPr>
          <p:cNvPr id="276" name="Google Shape;276;p2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WidgetStateProperty</a:t>
            </a:r>
            <a:endParaRPr b="1" sz="3600">
              <a:solidFill>
                <a:srgbClr val="000090"/>
              </a:solidFill>
            </a:endParaRPr>
          </a:p>
        </p:txBody>
      </p:sp>
      <p:cxnSp>
        <p:nvCxnSpPr>
          <p:cNvPr id="277" name="Google Shape;277;p2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78" name="Google Shape;278;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9" name="Google Shape;279;p22"/>
          <p:cNvSpPr/>
          <p:nvPr/>
        </p:nvSpPr>
        <p:spPr>
          <a:xfrm>
            <a:off x="155575" y="822229"/>
            <a:ext cx="8074025" cy="2862322"/>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11111"/>
              </a:buClr>
              <a:buSzPts val="1800"/>
              <a:buFont typeface="Arial"/>
              <a:buChar char="•"/>
            </a:pPr>
            <a:r>
              <a:rPr b="0" i="0" lang="en-ID" sz="1800" u="none" cap="none" strike="noStrike">
                <a:solidFill>
                  <a:srgbClr val="111111"/>
                </a:solidFill>
                <a:latin typeface="Roboto"/>
                <a:ea typeface="Roboto"/>
                <a:cs typeface="Roboto"/>
                <a:sym typeface="Roboto"/>
              </a:rPr>
              <a:t>Each UI widget may have their own states, e.g. focused, hovered, pressed, disabled → expressed as </a:t>
            </a:r>
            <a:r>
              <a:rPr b="1" i="0" lang="en-ID" sz="1800" u="none" cap="none" strike="noStrike">
                <a:solidFill>
                  <a:srgbClr val="111111"/>
                </a:solidFill>
                <a:latin typeface="Roboto"/>
                <a:ea typeface="Roboto"/>
                <a:cs typeface="Roboto"/>
                <a:sym typeface="Roboto"/>
              </a:rPr>
              <a:t>WidgetState</a:t>
            </a:r>
            <a:endParaRPr b="1" i="0" sz="1800" u="none" cap="none" strike="noStrike">
              <a:solidFill>
                <a:srgbClr val="111111"/>
              </a:solidFill>
              <a:latin typeface="Roboto"/>
              <a:ea typeface="Roboto"/>
              <a:cs typeface="Roboto"/>
              <a:sym typeface="Roboto"/>
            </a:endParaRPr>
          </a:p>
          <a:p>
            <a:pPr indent="-342900" lvl="0" marL="457200" marR="0" rtl="0" algn="l">
              <a:lnSpc>
                <a:spcPct val="100000"/>
              </a:lnSpc>
              <a:spcBef>
                <a:spcPts val="0"/>
              </a:spcBef>
              <a:spcAft>
                <a:spcPts val="0"/>
              </a:spcAft>
              <a:buClr>
                <a:srgbClr val="111111"/>
              </a:buClr>
              <a:buSzPts val="1800"/>
              <a:buFont typeface="Arial"/>
              <a:buChar char="•"/>
            </a:pPr>
            <a:r>
              <a:rPr b="1" i="0" lang="en-ID" sz="1800" u="none" cap="none" strike="noStrike">
                <a:solidFill>
                  <a:srgbClr val="111111"/>
                </a:solidFill>
                <a:latin typeface="Roboto"/>
                <a:ea typeface="Roboto"/>
                <a:cs typeface="Roboto"/>
                <a:sym typeface="Roboto"/>
              </a:rPr>
              <a:t>WidgetStateProperty</a:t>
            </a:r>
            <a:r>
              <a:rPr b="0" i="0" lang="en-ID" sz="1800" u="none" cap="none" strike="noStrike">
                <a:solidFill>
                  <a:srgbClr val="111111"/>
                </a:solidFill>
                <a:latin typeface="Roboto"/>
                <a:ea typeface="Roboto"/>
                <a:cs typeface="Roboto"/>
                <a:sym typeface="Roboto"/>
              </a:rPr>
              <a:t> helps us return a proper property (e.g., color, font size, etc.) according to the current state</a:t>
            </a:r>
            <a:endParaRPr b="0" i="0" sz="1800" u="none" cap="none" strike="noStrike">
              <a:solidFill>
                <a:srgbClr val="111111"/>
              </a:solidFill>
              <a:latin typeface="Roboto"/>
              <a:ea typeface="Roboto"/>
              <a:cs typeface="Roboto"/>
              <a:sym typeface="Roboto"/>
            </a:endParaRPr>
          </a:p>
          <a:p>
            <a:pPr indent="-342900" lvl="0" marL="457200" marR="0" rtl="0" algn="l">
              <a:lnSpc>
                <a:spcPct val="100000"/>
              </a:lnSpc>
              <a:spcBef>
                <a:spcPts val="0"/>
              </a:spcBef>
              <a:spcAft>
                <a:spcPts val="0"/>
              </a:spcAft>
              <a:buClr>
                <a:srgbClr val="111111"/>
              </a:buClr>
              <a:buSzPts val="1800"/>
              <a:buFont typeface="Arial"/>
              <a:buChar char="•"/>
            </a:pPr>
            <a:r>
              <a:rPr b="1" i="0" lang="en-ID" sz="1800" u="none" cap="none" strike="noStrike">
                <a:solidFill>
                  <a:srgbClr val="111111"/>
                </a:solidFill>
                <a:latin typeface="Roboto"/>
                <a:ea typeface="Roboto"/>
                <a:cs typeface="Roboto"/>
                <a:sym typeface="Roboto"/>
              </a:rPr>
              <a:t>ButtonStyle</a:t>
            </a:r>
            <a:r>
              <a:rPr b="0" i="0" lang="en-ID" sz="1800" u="none" cap="none" strike="noStrike">
                <a:solidFill>
                  <a:srgbClr val="111111"/>
                </a:solidFill>
                <a:latin typeface="Roboto"/>
                <a:ea typeface="Roboto"/>
                <a:cs typeface="Roboto"/>
                <a:sym typeface="Roboto"/>
              </a:rPr>
              <a:t> has many widget state properties to configure the appearance of buttons</a:t>
            </a:r>
            <a:endParaRPr b="0" i="0" sz="1800" u="none" cap="none" strike="noStrike">
              <a:solidFill>
                <a:srgbClr val="111111"/>
              </a:solidFill>
              <a:latin typeface="Roboto"/>
              <a:ea typeface="Roboto"/>
              <a:cs typeface="Roboto"/>
              <a:sym typeface="Roboto"/>
            </a:endParaRPr>
          </a:p>
          <a:p>
            <a:pPr indent="-342900" lvl="0" marL="457200" marR="0" rtl="0" algn="l">
              <a:lnSpc>
                <a:spcPct val="100000"/>
              </a:lnSpc>
              <a:spcBef>
                <a:spcPts val="0"/>
              </a:spcBef>
              <a:spcAft>
                <a:spcPts val="0"/>
              </a:spcAft>
              <a:buClr>
                <a:srgbClr val="111111"/>
              </a:buClr>
              <a:buSzPts val="1800"/>
              <a:buFont typeface="Arial"/>
              <a:buChar char="•"/>
            </a:pPr>
            <a:r>
              <a:rPr b="0" i="0" lang="en-ID" sz="1800" u="none" cap="none" strike="noStrike">
                <a:solidFill>
                  <a:srgbClr val="111111"/>
                </a:solidFill>
                <a:latin typeface="Roboto"/>
                <a:ea typeface="Roboto"/>
                <a:cs typeface="Roboto"/>
                <a:sym typeface="Roboto"/>
              </a:rPr>
              <a:t>To resolve a property depending on combinations of WidgetStates, use the helper function </a:t>
            </a:r>
            <a:r>
              <a:rPr b="1" i="0" lang="en-ID" sz="1800" u="none" cap="none" strike="noStrike">
                <a:solidFill>
                  <a:srgbClr val="111111"/>
                </a:solidFill>
                <a:latin typeface="Roboto"/>
                <a:ea typeface="Roboto"/>
                <a:cs typeface="Roboto"/>
                <a:sym typeface="Roboto"/>
              </a:rPr>
              <a:t>WidgetStateProperty.resolveWith()</a:t>
            </a:r>
            <a:r>
              <a:rPr b="0" i="0" lang="en-ID" sz="1800" u="none" cap="none" strike="noStrike">
                <a:solidFill>
                  <a:srgbClr val="111111"/>
                </a:solidFill>
                <a:latin typeface="Roboto"/>
                <a:ea typeface="Roboto"/>
                <a:cs typeface="Roboto"/>
                <a:sym typeface="Roboto"/>
              </a:rPr>
              <a:t>, passing a function as its argument</a:t>
            </a:r>
            <a:endParaRPr b="0" i="0" sz="1800" u="none" cap="none" strike="noStrike">
              <a:solidFill>
                <a:srgbClr val="111111"/>
              </a:solidFill>
              <a:latin typeface="Roboto"/>
              <a:ea typeface="Roboto"/>
              <a:cs typeface="Roboto"/>
              <a:sym typeface="Roboto"/>
            </a:endParaRPr>
          </a:p>
          <a:p>
            <a:pPr indent="-342900" lvl="1" marL="914400" marR="0" rtl="0" algn="l">
              <a:lnSpc>
                <a:spcPct val="100000"/>
              </a:lnSpc>
              <a:spcBef>
                <a:spcPts val="0"/>
              </a:spcBef>
              <a:spcAft>
                <a:spcPts val="0"/>
              </a:spcAft>
              <a:buClr>
                <a:srgbClr val="111111"/>
              </a:buClr>
              <a:buSzPts val="1800"/>
              <a:buFont typeface="Arial"/>
              <a:buChar char="•"/>
            </a:pPr>
            <a:r>
              <a:rPr b="0" i="0" lang="en-ID" sz="1800" u="none" cap="none" strike="noStrike">
                <a:solidFill>
                  <a:srgbClr val="111111"/>
                </a:solidFill>
                <a:latin typeface="Roboto"/>
                <a:ea typeface="Roboto"/>
                <a:cs typeface="Roboto"/>
                <a:sym typeface="Roboto"/>
              </a:rPr>
              <a:t>You can also use a lambda to pass as argument</a:t>
            </a:r>
            <a:endParaRPr b="0" i="0" sz="1800" u="none" cap="none" strike="noStrike">
              <a:solidFill>
                <a:srgbClr val="11111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3" name="Shape 283"/>
        <p:cNvGrpSpPr/>
        <p:nvPr/>
      </p:nvGrpSpPr>
      <p:grpSpPr>
        <a:xfrm>
          <a:off x="0" y="0"/>
          <a:ext cx="0" cy="0"/>
          <a:chOff x="0" y="0"/>
          <a:chExt cx="0" cy="0"/>
        </a:xfrm>
      </p:grpSpPr>
      <p:sp>
        <p:nvSpPr>
          <p:cNvPr id="284" name="Google Shape;284;p2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Example</a:t>
            </a:r>
            <a:endParaRPr/>
          </a:p>
        </p:txBody>
      </p:sp>
      <p:cxnSp>
        <p:nvCxnSpPr>
          <p:cNvPr id="285" name="Google Shape;285;p2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86" name="Google Shape;286;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7" name="Google Shape;287;p23"/>
          <p:cNvSpPr txBox="1"/>
          <p:nvPr>
            <p:ph idx="1" type="body"/>
          </p:nvPr>
        </p:nvSpPr>
        <p:spPr>
          <a:xfrm>
            <a:off x="457200" y="783771"/>
            <a:ext cx="8534400" cy="3810852"/>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Clr>
                <a:schemeClr val="dk1"/>
              </a:buClr>
              <a:buSzPts val="1900"/>
              <a:buNone/>
            </a:pPr>
            <a:r>
              <a:rPr lang="en-ID" sz="1900">
                <a:latin typeface="Calibri"/>
                <a:ea typeface="Calibri"/>
                <a:cs typeface="Calibri"/>
                <a:sym typeface="Calibri"/>
              </a:rPr>
              <a:t>Add a color function.</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Color getButtonColor(Set&lt;WidgetState&gt; states) {</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if (states.contains(WidgetState.pressed)) {</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return Colors.red;</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 else {</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return Colors.blue;</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lnSpc>
                <a:spcPct val="100000"/>
              </a:lnSpc>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lnSpc>
                <a:spcPct val="100000"/>
              </a:lnSpc>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342900" lvl="0" marL="342900" rtl="0" algn="l">
              <a:lnSpc>
                <a:spcPct val="100000"/>
              </a:lnSpc>
              <a:spcBef>
                <a:spcPts val="380"/>
              </a:spcBef>
              <a:spcAft>
                <a:spcPts val="0"/>
              </a:spcAft>
              <a:buClr>
                <a:schemeClr val="dk1"/>
              </a:buClr>
              <a:buSzPts val="1900"/>
              <a:buNone/>
            </a:pPr>
            <a:r>
              <a:rPr lang="en-ID" sz="1900"/>
              <a:t>Add button</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ElevatedButton(</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style: ButtonStyle(</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elevation: </a:t>
            </a:r>
            <a:r>
              <a:rPr lang="en-ID" sz="1000">
                <a:solidFill>
                  <a:srgbClr val="FF0000"/>
                </a:solidFill>
                <a:latin typeface="Consolas"/>
                <a:ea typeface="Consolas"/>
                <a:cs typeface="Consolas"/>
                <a:sym typeface="Consolas"/>
              </a:rPr>
              <a:t>WidgetState</a:t>
            </a:r>
            <a:r>
              <a:rPr lang="en-ID" sz="1100">
                <a:solidFill>
                  <a:srgbClr val="FF0000"/>
                </a:solidFill>
                <a:latin typeface="Consolas"/>
                <a:ea typeface="Consolas"/>
                <a:cs typeface="Consolas"/>
                <a:sym typeface="Consolas"/>
              </a:rPr>
              <a:t>PropertyAll(5),</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backgroundColor:</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r>
              <a:rPr lang="en-ID" sz="1000">
                <a:solidFill>
                  <a:srgbClr val="FF0000"/>
                </a:solidFill>
                <a:latin typeface="Consolas"/>
                <a:ea typeface="Consolas"/>
                <a:cs typeface="Consolas"/>
                <a:sym typeface="Consolas"/>
              </a:rPr>
              <a:t>WidgetState</a:t>
            </a:r>
            <a:r>
              <a:rPr lang="en-ID" sz="1100">
                <a:solidFill>
                  <a:srgbClr val="FF0000"/>
                </a:solidFill>
                <a:latin typeface="Consolas"/>
                <a:ea typeface="Consolas"/>
                <a:cs typeface="Consolas"/>
                <a:sym typeface="Consolas"/>
              </a:rPr>
              <a:t>Property.resolveWith(getButtonColor),</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onPressed: ()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child: const Text('SUBMIT'))</a:t>
            </a:r>
            <a:endParaRPr/>
          </a:p>
          <a:p>
            <a:pPr indent="-342900" lvl="0" marL="342900" rtl="0" algn="l">
              <a:lnSpc>
                <a:spcPct val="100000"/>
              </a:lnSpc>
              <a:spcBef>
                <a:spcPts val="400"/>
              </a:spcBef>
              <a:spcAft>
                <a:spcPts val="0"/>
              </a:spcAft>
              <a:buClr>
                <a:schemeClr val="dk1"/>
              </a:buClr>
              <a:buSzPts val="2000"/>
              <a:buNone/>
            </a:pPr>
            <a:r>
              <a:t/>
            </a:r>
            <a:endParaRPr sz="2000"/>
          </a:p>
          <a:p>
            <a:pPr indent="-342900" lvl="0" marL="342900" rtl="0" algn="l">
              <a:lnSpc>
                <a:spcPct val="100000"/>
              </a:lnSpc>
              <a:spcBef>
                <a:spcPts val="480"/>
              </a:spcBef>
              <a:spcAft>
                <a:spcPts val="0"/>
              </a:spcAft>
              <a:buClr>
                <a:schemeClr val="dk1"/>
              </a:buClr>
              <a:buSzPts val="2400"/>
              <a:buNone/>
            </a:pPr>
            <a:r>
              <a:t/>
            </a:r>
            <a:endParaRPr sz="2400">
              <a:solidFill>
                <a:srgbClr val="FF0000"/>
              </a:solidFill>
            </a:endParaRPr>
          </a:p>
        </p:txBody>
      </p:sp>
      <p:pic>
        <p:nvPicPr>
          <p:cNvPr id="288" name="Google Shape;288;p23"/>
          <p:cNvPicPr preferRelativeResize="0"/>
          <p:nvPr/>
        </p:nvPicPr>
        <p:blipFill rotWithShape="1">
          <a:blip r:embed="rId4">
            <a:alphaModFix/>
          </a:blip>
          <a:srcRect b="0" l="0" r="0" t="0"/>
          <a:stretch/>
        </p:blipFill>
        <p:spPr>
          <a:xfrm>
            <a:off x="6595110" y="714527"/>
            <a:ext cx="2091690" cy="1857223"/>
          </a:xfrm>
          <a:prstGeom prst="rect">
            <a:avLst/>
          </a:prstGeom>
          <a:noFill/>
          <a:ln>
            <a:noFill/>
          </a:ln>
        </p:spPr>
      </p:pic>
      <p:pic>
        <p:nvPicPr>
          <p:cNvPr id="289" name="Google Shape;289;p23"/>
          <p:cNvPicPr preferRelativeResize="0"/>
          <p:nvPr/>
        </p:nvPicPr>
        <p:blipFill rotWithShape="1">
          <a:blip r:embed="rId5">
            <a:alphaModFix/>
          </a:blip>
          <a:srcRect b="0" l="0" r="0" t="0"/>
          <a:stretch/>
        </p:blipFill>
        <p:spPr>
          <a:xfrm>
            <a:off x="6595110" y="2737400"/>
            <a:ext cx="2091690" cy="18572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sp>
        <p:nvSpPr>
          <p:cNvPr id="294" name="Google Shape;294;p2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Add recipe</a:t>
            </a:r>
            <a:endParaRPr/>
          </a:p>
        </p:txBody>
      </p:sp>
      <p:cxnSp>
        <p:nvCxnSpPr>
          <p:cNvPr id="295" name="Google Shape;295;p2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96" name="Google Shape;296;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7" name="Google Shape;297;p24"/>
          <p:cNvSpPr txBox="1"/>
          <p:nvPr>
            <p:ph idx="1" type="body"/>
          </p:nvPr>
        </p:nvSpPr>
        <p:spPr>
          <a:xfrm>
            <a:off x="221839" y="796688"/>
            <a:ext cx="8534400" cy="381085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900"/>
              <a:buNone/>
            </a:pPr>
            <a:r>
              <a:rPr lang="en-ID" sz="1900">
                <a:latin typeface="Calibri"/>
                <a:ea typeface="Calibri"/>
                <a:cs typeface="Calibri"/>
                <a:sym typeface="Calibri"/>
              </a:rPr>
              <a:t>Add on pressed.</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onPressed: ()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recipes.add(Recipe(</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id: recipes.length + 1,</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name: _recipeNameController.text,</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desc: _recipeDescController.text,</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photo: _recipePhotoController.text,</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lnSpc>
                <a:spcPct val="100000"/>
              </a:lnSpc>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sz="2000"/>
          </a:p>
          <a:p>
            <a:pPr indent="-342900" lvl="0" marL="342900" rtl="0" algn="l">
              <a:lnSpc>
                <a:spcPct val="100000"/>
              </a:lnSpc>
              <a:spcBef>
                <a:spcPts val="480"/>
              </a:spcBef>
              <a:spcAft>
                <a:spcPts val="0"/>
              </a:spcAft>
              <a:buClr>
                <a:schemeClr val="dk1"/>
              </a:buClr>
              <a:buSzPts val="2400"/>
              <a:buNone/>
            </a:pPr>
            <a:r>
              <a:t/>
            </a:r>
            <a:endParaRPr sz="2400">
              <a:solidFill>
                <a:srgbClr val="FF0000"/>
              </a:solidFill>
            </a:endParaRPr>
          </a:p>
        </p:txBody>
      </p:sp>
      <p:sp>
        <p:nvSpPr>
          <p:cNvPr id="298" name="Google Shape;298;p24"/>
          <p:cNvSpPr txBox="1"/>
          <p:nvPr/>
        </p:nvSpPr>
        <p:spPr>
          <a:xfrm>
            <a:off x="1175657" y="4084320"/>
            <a:ext cx="5425439" cy="52322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Arial"/>
                <a:ea typeface="Arial"/>
                <a:cs typeface="Arial"/>
                <a:sym typeface="Arial"/>
              </a:rPr>
              <a:t>When we click add, it is </a:t>
            </a:r>
            <a:r>
              <a:rPr b="1" i="0" lang="en-ID" sz="1400" u="none" cap="none" strike="noStrike">
                <a:solidFill>
                  <a:schemeClr val="dk1"/>
                </a:solidFill>
                <a:latin typeface="Arial"/>
                <a:ea typeface="Arial"/>
                <a:cs typeface="Arial"/>
                <a:sym typeface="Arial"/>
              </a:rPr>
              <a:t>silently</a:t>
            </a:r>
            <a:r>
              <a:rPr b="0" i="0" lang="en-ID" sz="1400" u="none" cap="none" strike="noStrike">
                <a:solidFill>
                  <a:schemeClr val="dk1"/>
                </a:solidFill>
                <a:latin typeface="Arial"/>
                <a:ea typeface="Arial"/>
                <a:cs typeface="Arial"/>
                <a:sym typeface="Arial"/>
              </a:rPr>
              <a:t> adding data to recipe list, user doesn’t get any feedback. We will examine it later.</a:t>
            </a:r>
            <a:endParaRPr b="0" i="0" sz="1400" u="none" cap="none" strike="noStrike">
              <a:solidFill>
                <a:srgbClr val="000000"/>
              </a:solidFill>
              <a:latin typeface="Arial"/>
              <a:ea typeface="Arial"/>
              <a:cs typeface="Arial"/>
              <a:sym typeface="Arial"/>
            </a:endParaRPr>
          </a:p>
        </p:txBody>
      </p:sp>
      <p:pic>
        <p:nvPicPr>
          <p:cNvPr id="299" name="Google Shape;299;p24"/>
          <p:cNvPicPr preferRelativeResize="0"/>
          <p:nvPr/>
        </p:nvPicPr>
        <p:blipFill rotWithShape="1">
          <a:blip r:embed="rId4">
            <a:alphaModFix/>
          </a:blip>
          <a:srcRect b="0" l="0" r="0" t="0"/>
          <a:stretch/>
        </p:blipFill>
        <p:spPr>
          <a:xfrm>
            <a:off x="4960075" y="776298"/>
            <a:ext cx="1742889" cy="3088277"/>
          </a:xfrm>
          <a:prstGeom prst="rect">
            <a:avLst/>
          </a:prstGeom>
          <a:noFill/>
          <a:ln>
            <a:noFill/>
          </a:ln>
        </p:spPr>
      </p:pic>
      <p:pic>
        <p:nvPicPr>
          <p:cNvPr id="300" name="Google Shape;300;p24"/>
          <p:cNvPicPr preferRelativeResize="0"/>
          <p:nvPr/>
        </p:nvPicPr>
        <p:blipFill rotWithShape="1">
          <a:blip r:embed="rId5">
            <a:alphaModFix/>
          </a:blip>
          <a:srcRect b="0" l="0" r="0" t="0"/>
          <a:stretch/>
        </p:blipFill>
        <p:spPr>
          <a:xfrm>
            <a:off x="6892436" y="796688"/>
            <a:ext cx="2251564" cy="398961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2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Adding Alert Dialog</a:t>
            </a:r>
            <a:endParaRPr/>
          </a:p>
        </p:txBody>
      </p:sp>
      <p:cxnSp>
        <p:nvCxnSpPr>
          <p:cNvPr id="306" name="Google Shape;306;p2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07" name="Google Shape;307;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8" name="Google Shape;308;p25"/>
          <p:cNvSpPr/>
          <p:nvPr/>
        </p:nvSpPr>
        <p:spPr>
          <a:xfrm>
            <a:off x="-757645" y="898172"/>
            <a:ext cx="7336971"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showDialog&lt;String&gt;(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context: context,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builder: (BuildContext context) =&gt; AlertDialog(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title: Text('Add Recipe'),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content: Text('Recipe successfully added'),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actions: &lt;Widget&gt;[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TextButton(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onPressed: () =&gt; Navigator.pop(context, 'OK'),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child: const Text('OK'),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200" u="none" cap="none" strike="noStrike">
              <a:solidFill>
                <a:srgbClr val="FF0000"/>
              </a:solidFill>
              <a:latin typeface="Consolas"/>
              <a:ea typeface="Consolas"/>
              <a:cs typeface="Consolas"/>
              <a:sym typeface="Consolas"/>
            </a:endParaRPr>
          </a:p>
        </p:txBody>
      </p:sp>
      <p:sp>
        <p:nvSpPr>
          <p:cNvPr id="309" name="Google Shape;309;p25"/>
          <p:cNvSpPr txBox="1"/>
          <p:nvPr/>
        </p:nvSpPr>
        <p:spPr>
          <a:xfrm>
            <a:off x="307975" y="3548614"/>
            <a:ext cx="3396169" cy="52322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Arial"/>
                <a:ea typeface="Arial"/>
                <a:cs typeface="Arial"/>
                <a:sym typeface="Arial"/>
              </a:rPr>
              <a:t>Add this code inside the onPressed after adding the recipe</a:t>
            </a:r>
            <a:endParaRPr b="0" i="0" sz="1400" u="none" cap="none" strike="noStrike">
              <a:solidFill>
                <a:srgbClr val="000000"/>
              </a:solidFill>
              <a:latin typeface="Arial"/>
              <a:ea typeface="Arial"/>
              <a:cs typeface="Arial"/>
              <a:sym typeface="Arial"/>
            </a:endParaRPr>
          </a:p>
        </p:txBody>
      </p:sp>
      <p:pic>
        <p:nvPicPr>
          <p:cNvPr id="310" name="Google Shape;310;p25"/>
          <p:cNvPicPr preferRelativeResize="0"/>
          <p:nvPr/>
        </p:nvPicPr>
        <p:blipFill rotWithShape="1">
          <a:blip r:embed="rId4">
            <a:alphaModFix/>
          </a:blip>
          <a:srcRect b="0" l="0" r="0" t="0"/>
          <a:stretch/>
        </p:blipFill>
        <p:spPr>
          <a:xfrm>
            <a:off x="6404280" y="719817"/>
            <a:ext cx="2431745" cy="430888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4" name="Shape 314"/>
        <p:cNvGrpSpPr/>
        <p:nvPr/>
      </p:nvGrpSpPr>
      <p:grpSpPr>
        <a:xfrm>
          <a:off x="0" y="0"/>
          <a:ext cx="0" cy="0"/>
          <a:chOff x="0" y="0"/>
          <a:chExt cx="0" cy="0"/>
        </a:xfrm>
      </p:grpSpPr>
      <p:sp>
        <p:nvSpPr>
          <p:cNvPr id="315" name="Google Shape;315;p2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Button with Icon</a:t>
            </a:r>
            <a:endParaRPr/>
          </a:p>
        </p:txBody>
      </p:sp>
      <p:cxnSp>
        <p:nvCxnSpPr>
          <p:cNvPr id="316" name="Google Shape;316;p2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17" name="Google Shape;317;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8" name="Google Shape;318;p26"/>
          <p:cNvSpPr txBox="1"/>
          <p:nvPr>
            <p:ph idx="1" type="body"/>
          </p:nvPr>
        </p:nvSpPr>
        <p:spPr>
          <a:xfrm>
            <a:off x="457200" y="783771"/>
            <a:ext cx="8534400" cy="38108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Button can be equipped with icon by using .icon constructor. </a:t>
            </a:r>
            <a:endParaRPr/>
          </a:p>
          <a:p>
            <a:pPr indent="0" lvl="0" marL="0" rtl="0" algn="l">
              <a:lnSpc>
                <a:spcPct val="100000"/>
              </a:lnSpc>
              <a:spcBef>
                <a:spcPts val="360"/>
              </a:spcBef>
              <a:spcAft>
                <a:spcPts val="0"/>
              </a:spcAft>
              <a:buClr>
                <a:srgbClr val="FF0000"/>
              </a:buClr>
              <a:buSzPts val="1800"/>
              <a:buNone/>
            </a:pPr>
            <a:r>
              <a:rPr lang="en-ID" sz="1800">
                <a:solidFill>
                  <a:srgbClr val="FF0000"/>
                </a:solidFill>
                <a:latin typeface="Calibri"/>
                <a:ea typeface="Calibri"/>
                <a:cs typeface="Calibri"/>
                <a:sym typeface="Calibri"/>
              </a:rPr>
              <a:t>    </a:t>
            </a:r>
            <a:endParaRPr/>
          </a:p>
        </p:txBody>
      </p:sp>
      <p:sp>
        <p:nvSpPr>
          <p:cNvPr id="319" name="Google Shape;319;p26"/>
          <p:cNvSpPr/>
          <p:nvPr/>
        </p:nvSpPr>
        <p:spPr>
          <a:xfrm>
            <a:off x="457200" y="1281963"/>
            <a:ext cx="4572000" cy="30777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ID" sz="2000" u="none" cap="none" strike="noStrike">
                <a:solidFill>
                  <a:srgbClr val="FF0000"/>
                </a:solidFill>
                <a:latin typeface="Consolas"/>
                <a:ea typeface="Consolas"/>
                <a:cs typeface="Consolas"/>
                <a:sym typeface="Consolas"/>
              </a:rPr>
              <a:t>ElevatedButton.icon</a:t>
            </a:r>
            <a:r>
              <a:rPr b="0" i="0" lang="en-ID" sz="1400" u="none" cap="none" strike="noStrike">
                <a:solidFill>
                  <a:schemeClr val="dk1"/>
                </a:solidFill>
                <a:latin typeface="Consolas"/>
                <a:ea typeface="Consolas"/>
                <a:cs typeface="Consolas"/>
                <a:sym typeface="Consolas"/>
              </a:rPr>
              <a:t>({</a:t>
            </a:r>
            <a:r>
              <a:rPr b="0" i="0" lang="en-ID" sz="1800" u="sng" cap="none" strike="noStrike">
                <a:solidFill>
                  <a:schemeClr val="dk1"/>
                </a:solidFill>
                <a:latin typeface="Consolas"/>
                <a:ea typeface="Consolas"/>
                <a:cs typeface="Consolas"/>
                <a:sym typeface="Consolas"/>
                <a:hlinkClick r:id="rId4">
                  <a:extLst>
                    <a:ext uri="{A12FA001-AC4F-418D-AE19-62706E023703}">
                      <ahyp:hlinkClr val="tx"/>
                    </a:ext>
                  </a:extLst>
                </a:hlinkClick>
              </a:rPr>
              <a:t>Key</a:t>
            </a:r>
            <a:r>
              <a:rPr b="0" i="0" lang="en-ID" sz="1400" u="none" cap="none" strike="noStrike">
                <a:solidFill>
                  <a:schemeClr val="dk1"/>
                </a:solidFill>
                <a:latin typeface="Consolas"/>
                <a:ea typeface="Consolas"/>
                <a:cs typeface="Consolas"/>
                <a:sym typeface="Consolas"/>
              </a:rPr>
              <a:t>? key,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Consolas"/>
                <a:ea typeface="Consolas"/>
                <a:cs typeface="Consolas"/>
                <a:sym typeface="Consolas"/>
              </a:rPr>
              <a:t> required </a:t>
            </a:r>
            <a:r>
              <a:rPr b="0" i="0" lang="en-ID" sz="1800" u="sng" cap="none" strike="noStrike">
                <a:solidFill>
                  <a:schemeClr val="dk1"/>
                </a:solidFill>
                <a:latin typeface="Consolas"/>
                <a:ea typeface="Consolas"/>
                <a:cs typeface="Consolas"/>
                <a:sym typeface="Consolas"/>
                <a:hlinkClick r:id="rId5">
                  <a:extLst>
                    <a:ext uri="{A12FA001-AC4F-418D-AE19-62706E023703}">
                      <ahyp:hlinkClr val="tx"/>
                    </a:ext>
                  </a:extLst>
                </a:hlinkClick>
              </a:rPr>
              <a:t>VoidCallback</a:t>
            </a:r>
            <a:r>
              <a:rPr b="0" i="0" lang="en-ID" sz="1400" u="none" cap="none" strike="noStrike">
                <a:solidFill>
                  <a:schemeClr val="dk1"/>
                </a:solidFill>
                <a:latin typeface="Consolas"/>
                <a:ea typeface="Consolas"/>
                <a:cs typeface="Consolas"/>
                <a:sym typeface="Consolas"/>
              </a:rPr>
              <a:t>? onPressed,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D" sz="1800" u="sng" cap="none" strike="noStrike">
                <a:solidFill>
                  <a:schemeClr val="dk1"/>
                </a:solidFill>
                <a:latin typeface="Consolas"/>
                <a:ea typeface="Consolas"/>
                <a:cs typeface="Consolas"/>
                <a:sym typeface="Consolas"/>
                <a:hlinkClick r:id="rId6">
                  <a:extLst>
                    <a:ext uri="{A12FA001-AC4F-418D-AE19-62706E023703}">
                      <ahyp:hlinkClr val="tx"/>
                    </a:ext>
                  </a:extLst>
                </a:hlinkClick>
              </a:rPr>
              <a:t> VoidCallback</a:t>
            </a:r>
            <a:r>
              <a:rPr b="0" i="0" lang="en-ID" sz="1400" u="none" cap="none" strike="noStrike">
                <a:solidFill>
                  <a:schemeClr val="dk1"/>
                </a:solidFill>
                <a:latin typeface="Consolas"/>
                <a:ea typeface="Consolas"/>
                <a:cs typeface="Consolas"/>
                <a:sym typeface="Consolas"/>
              </a:rPr>
              <a:t>? onLongPress,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D" sz="1800" u="sng" cap="none" strike="noStrike">
                <a:solidFill>
                  <a:schemeClr val="dk1"/>
                </a:solidFill>
                <a:latin typeface="Consolas"/>
                <a:ea typeface="Consolas"/>
                <a:cs typeface="Consolas"/>
                <a:sym typeface="Consolas"/>
                <a:hlinkClick r:id="rId7">
                  <a:extLst>
                    <a:ext uri="{A12FA001-AC4F-418D-AE19-62706E023703}">
                      <ahyp:hlinkClr val="tx"/>
                    </a:ext>
                  </a:extLst>
                </a:hlinkClick>
              </a:rPr>
              <a:t> ButtonStyle</a:t>
            </a:r>
            <a:r>
              <a:rPr b="0" i="0" lang="en-ID" sz="1400" u="none" cap="none" strike="noStrike">
                <a:solidFill>
                  <a:schemeClr val="dk1"/>
                </a:solidFill>
                <a:latin typeface="Consolas"/>
                <a:ea typeface="Consolas"/>
                <a:cs typeface="Consolas"/>
                <a:sym typeface="Consolas"/>
              </a:rPr>
              <a:t>? style,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D" sz="1800" u="sng" cap="none" strike="noStrike">
                <a:solidFill>
                  <a:schemeClr val="dk1"/>
                </a:solidFill>
                <a:latin typeface="Consolas"/>
                <a:ea typeface="Consolas"/>
                <a:cs typeface="Consolas"/>
                <a:sym typeface="Consolas"/>
                <a:hlinkClick r:id="rId8">
                  <a:extLst>
                    <a:ext uri="{A12FA001-AC4F-418D-AE19-62706E023703}">
                      <ahyp:hlinkClr val="tx"/>
                    </a:ext>
                  </a:extLst>
                </a:hlinkClick>
              </a:rPr>
              <a:t> FocusNode</a:t>
            </a:r>
            <a:r>
              <a:rPr b="0" i="0" lang="en-ID" sz="1400" u="none" cap="none" strike="noStrike">
                <a:solidFill>
                  <a:schemeClr val="dk1"/>
                </a:solidFill>
                <a:latin typeface="Consolas"/>
                <a:ea typeface="Consolas"/>
                <a:cs typeface="Consolas"/>
                <a:sym typeface="Consolas"/>
              </a:rPr>
              <a:t>? focusNode,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D" sz="1800" u="sng" cap="none" strike="noStrike">
                <a:solidFill>
                  <a:schemeClr val="dk1"/>
                </a:solidFill>
                <a:latin typeface="Consolas"/>
                <a:ea typeface="Consolas"/>
                <a:cs typeface="Consolas"/>
                <a:sym typeface="Consolas"/>
                <a:hlinkClick r:id="rId9">
                  <a:extLst>
                    <a:ext uri="{A12FA001-AC4F-418D-AE19-62706E023703}">
                      <ahyp:hlinkClr val="tx"/>
                    </a:ext>
                  </a:extLst>
                </a:hlinkClick>
              </a:rPr>
              <a:t> bool</a:t>
            </a:r>
            <a:r>
              <a:rPr b="0" i="0" lang="en-ID" sz="1400" u="none" cap="none" strike="noStrike">
                <a:solidFill>
                  <a:schemeClr val="dk1"/>
                </a:solidFill>
                <a:latin typeface="Consolas"/>
                <a:ea typeface="Consolas"/>
                <a:cs typeface="Consolas"/>
                <a:sym typeface="Consolas"/>
              </a:rPr>
              <a:t>? autofocus,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D" sz="1800" u="sng" cap="none" strike="noStrike">
                <a:solidFill>
                  <a:schemeClr val="dk1"/>
                </a:solidFill>
                <a:latin typeface="Consolas"/>
                <a:ea typeface="Consolas"/>
                <a:cs typeface="Consolas"/>
                <a:sym typeface="Consolas"/>
                <a:hlinkClick r:id="rId10">
                  <a:extLst>
                    <a:ext uri="{A12FA001-AC4F-418D-AE19-62706E023703}">
                      <ahyp:hlinkClr val="tx"/>
                    </a:ext>
                  </a:extLst>
                </a:hlinkClick>
              </a:rPr>
              <a:t> Clip</a:t>
            </a:r>
            <a:r>
              <a:rPr b="0" i="0" lang="en-ID" sz="1400" u="none" cap="none" strike="noStrike">
                <a:solidFill>
                  <a:schemeClr val="dk1"/>
                </a:solidFill>
                <a:latin typeface="Consolas"/>
                <a:ea typeface="Consolas"/>
                <a:cs typeface="Consolas"/>
                <a:sym typeface="Consolas"/>
              </a:rPr>
              <a:t>? clipBehavior,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Consolas"/>
                <a:ea typeface="Consolas"/>
                <a:cs typeface="Consolas"/>
                <a:sym typeface="Consolas"/>
              </a:rPr>
              <a:t> required </a:t>
            </a:r>
            <a:r>
              <a:rPr b="0" i="0" lang="en-ID" sz="1800" u="sng" cap="none" strike="noStrike">
                <a:solidFill>
                  <a:schemeClr val="dk1"/>
                </a:solidFill>
                <a:latin typeface="Consolas"/>
                <a:ea typeface="Consolas"/>
                <a:cs typeface="Consolas"/>
                <a:sym typeface="Consolas"/>
                <a:hlinkClick r:id="rId11">
                  <a:extLst>
                    <a:ext uri="{A12FA001-AC4F-418D-AE19-62706E023703}">
                      <ahyp:hlinkClr val="tx"/>
                    </a:ext>
                  </a:extLst>
                </a:hlinkClick>
              </a:rPr>
              <a:t>Widget</a:t>
            </a:r>
            <a:r>
              <a:rPr b="0" i="0" lang="en-ID" sz="1400" u="none" cap="none" strike="noStrike">
                <a:solidFill>
                  <a:schemeClr val="dk1"/>
                </a:solidFill>
                <a:latin typeface="Consolas"/>
                <a:ea typeface="Consolas"/>
                <a:cs typeface="Consolas"/>
                <a:sym typeface="Consolas"/>
              </a:rPr>
              <a:t> icon,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Consolas"/>
                <a:ea typeface="Consolas"/>
                <a:cs typeface="Consolas"/>
                <a:sym typeface="Consolas"/>
              </a:rPr>
              <a:t> required </a:t>
            </a:r>
            <a:r>
              <a:rPr b="0" i="0" lang="en-ID" sz="1800" u="sng" cap="none" strike="noStrike">
                <a:solidFill>
                  <a:schemeClr val="dk1"/>
                </a:solidFill>
                <a:latin typeface="Consolas"/>
                <a:ea typeface="Consolas"/>
                <a:cs typeface="Consolas"/>
                <a:sym typeface="Consolas"/>
                <a:hlinkClick r:id="rId12">
                  <a:extLst>
                    <a:ext uri="{A12FA001-AC4F-418D-AE19-62706E023703}">
                      <ahyp:hlinkClr val="tx"/>
                    </a:ext>
                  </a:extLst>
                </a:hlinkClick>
              </a:rPr>
              <a:t>Widget</a:t>
            </a:r>
            <a:r>
              <a:rPr b="0" i="0" lang="en-ID" sz="1400" u="none" cap="none" strike="noStrike">
                <a:solidFill>
                  <a:schemeClr val="dk1"/>
                </a:solidFill>
                <a:latin typeface="Consolas"/>
                <a:ea typeface="Consolas"/>
                <a:cs typeface="Consolas"/>
                <a:sym typeface="Consolas"/>
              </a:rPr>
              <a:t> label}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Consolas"/>
                <a:ea typeface="Consolas"/>
                <a:cs typeface="Consolas"/>
                <a:sym typeface="Consolas"/>
              </a:rPr>
              <a:t>)</a:t>
            </a:r>
            <a:br>
              <a:rPr b="0" i="0" lang="en-ID" sz="1400" u="none" cap="none" strike="noStrike">
                <a:solidFill>
                  <a:schemeClr val="dk1"/>
                </a:solidFill>
                <a:latin typeface="Arial"/>
                <a:ea typeface="Arial"/>
                <a:cs typeface="Arial"/>
                <a:sym typeface="Arial"/>
              </a:rPr>
            </a:br>
            <a:endParaRPr b="0" i="0" sz="1400" u="none" cap="none" strike="noStrike">
              <a:solidFill>
                <a:srgbClr val="FF0000"/>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27"/>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DAE5F1"/>
              </a:buClr>
              <a:buSzPts val="6000"/>
              <a:buFont typeface="Arial"/>
              <a:buNone/>
            </a:pPr>
            <a:r>
              <a:rPr b="1" lang="en-ID" sz="6000">
                <a:solidFill>
                  <a:srgbClr val="DAE5F1"/>
                </a:solidFill>
              </a:rPr>
              <a:t>DROPDOWN BUTTON</a:t>
            </a:r>
            <a:endParaRPr/>
          </a:p>
        </p:txBody>
      </p:sp>
      <p:sp>
        <p:nvSpPr>
          <p:cNvPr id="325" name="Google Shape;325;p27"/>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9" name="Shape 329"/>
        <p:cNvGrpSpPr/>
        <p:nvPr/>
      </p:nvGrpSpPr>
      <p:grpSpPr>
        <a:xfrm>
          <a:off x="0" y="0"/>
          <a:ext cx="0" cy="0"/>
          <a:chOff x="0" y="0"/>
          <a:chExt cx="0" cy="0"/>
        </a:xfrm>
      </p:grpSpPr>
      <p:sp>
        <p:nvSpPr>
          <p:cNvPr id="330" name="Google Shape;330;p2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DropDownButton</a:t>
            </a:r>
            <a:endParaRPr b="1" sz="3600">
              <a:solidFill>
                <a:srgbClr val="000090"/>
              </a:solidFill>
            </a:endParaRPr>
          </a:p>
        </p:txBody>
      </p:sp>
      <p:cxnSp>
        <p:nvCxnSpPr>
          <p:cNvPr id="331" name="Google Shape;331;p2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32" name="Google Shape;332;p2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3" name="Google Shape;333;p28"/>
          <p:cNvSpPr txBox="1"/>
          <p:nvPr>
            <p:ph idx="1" type="body"/>
          </p:nvPr>
        </p:nvSpPr>
        <p:spPr>
          <a:xfrm>
            <a:off x="457200" y="783771"/>
            <a:ext cx="2895600" cy="38108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800"/>
              <a:buNone/>
            </a:pPr>
            <a:r>
              <a:rPr lang="en-ID" sz="1800">
                <a:latin typeface="Calibri"/>
                <a:ea typeface="Calibri"/>
                <a:cs typeface="Calibri"/>
                <a:sym typeface="Calibri"/>
              </a:rPr>
              <a:t>DropDownButton is used when user must pick one from given options. </a:t>
            </a:r>
            <a:endParaRPr/>
          </a:p>
          <a:p>
            <a:pPr indent="0" lvl="0" marL="0" rtl="0" algn="l">
              <a:lnSpc>
                <a:spcPct val="100000"/>
              </a:lnSpc>
              <a:spcBef>
                <a:spcPts val="360"/>
              </a:spcBef>
              <a:spcAft>
                <a:spcPts val="0"/>
              </a:spcAft>
              <a:buClr>
                <a:srgbClr val="FF0000"/>
              </a:buClr>
              <a:buSzPts val="1800"/>
              <a:buNone/>
            </a:pPr>
            <a:r>
              <a:rPr lang="en-ID" sz="1800">
                <a:solidFill>
                  <a:srgbClr val="FF0000"/>
                </a:solidFill>
                <a:latin typeface="Calibri"/>
                <a:ea typeface="Calibri"/>
                <a:cs typeface="Calibri"/>
                <a:sym typeface="Calibri"/>
              </a:rPr>
              <a:t>    </a:t>
            </a:r>
            <a:endParaRPr/>
          </a:p>
        </p:txBody>
      </p:sp>
      <p:sp>
        <p:nvSpPr>
          <p:cNvPr id="334" name="Google Shape;334;p28"/>
          <p:cNvSpPr/>
          <p:nvPr/>
        </p:nvSpPr>
        <p:spPr>
          <a:xfrm>
            <a:off x="4363583" y="160338"/>
            <a:ext cx="4572000" cy="461664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String _recipeCategory = "Indonesian";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a:t>
            </a:r>
            <a:br>
              <a:rPr b="0" i="0" lang="en-ID" sz="1200" u="none" cap="none" strike="noStrike">
                <a:solidFill>
                  <a:srgbClr val="FF0000"/>
                </a:solidFill>
                <a:latin typeface="Consolas"/>
                <a:ea typeface="Consolas"/>
                <a:cs typeface="Consolas"/>
                <a:sym typeface="Consolas"/>
              </a:rPr>
            </a:br>
            <a:r>
              <a:rPr b="0" i="0" lang="en-ID" sz="1200" u="none" cap="none" strike="noStrike">
                <a:solidFill>
                  <a:srgbClr val="FF0000"/>
                </a:solidFill>
                <a:latin typeface="Consolas"/>
                <a:ea typeface="Consolas"/>
                <a:cs typeface="Consolas"/>
                <a:sym typeface="Consolas"/>
              </a:rPr>
              <a:t>         DropdownButton(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items: const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DropdownMenuItem(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value: "Indonesian",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child: Text("Indonesian"),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DropdownMenuItem(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value: "Japanese",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child: Text("Japanese"),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DropdownMenuItem(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value: "Korean",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child: Text("Korean"),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value: _recipeCategory,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onChanged: (value)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setState(()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_recipeCategory =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r>
              <a:rPr b="0" i="0" lang="en-ID"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335" name="Google Shape;335;p28"/>
          <p:cNvPicPr preferRelativeResize="0"/>
          <p:nvPr/>
        </p:nvPicPr>
        <p:blipFill rotWithShape="1">
          <a:blip r:embed="rId4">
            <a:alphaModFix/>
          </a:blip>
          <a:srcRect b="0" l="0" r="0" t="0"/>
          <a:stretch/>
        </p:blipFill>
        <p:spPr>
          <a:xfrm>
            <a:off x="587433" y="2495791"/>
            <a:ext cx="2277687" cy="14451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9" name="Shape 339"/>
        <p:cNvGrpSpPr/>
        <p:nvPr/>
      </p:nvGrpSpPr>
      <p:grpSpPr>
        <a:xfrm>
          <a:off x="0" y="0"/>
          <a:ext cx="0" cy="0"/>
          <a:chOff x="0" y="0"/>
          <a:chExt cx="0" cy="0"/>
        </a:xfrm>
      </p:grpSpPr>
      <p:sp>
        <p:nvSpPr>
          <p:cNvPr id="340" name="Google Shape;340;p29"/>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DAE5F1"/>
              </a:buClr>
              <a:buSzPts val="6600"/>
              <a:buFont typeface="Arial"/>
              <a:buNone/>
            </a:pPr>
            <a:r>
              <a:rPr b="1" lang="en-ID" sz="6600">
                <a:solidFill>
                  <a:srgbClr val="DAE5F1"/>
                </a:solidFill>
              </a:rPr>
              <a:t>EXERCISE</a:t>
            </a:r>
            <a:endParaRPr/>
          </a:p>
        </p:txBody>
      </p:sp>
      <p:sp>
        <p:nvSpPr>
          <p:cNvPr id="341" name="Google Shape;341;p29"/>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5" name="Shape 345"/>
        <p:cNvGrpSpPr/>
        <p:nvPr/>
      </p:nvGrpSpPr>
      <p:grpSpPr>
        <a:xfrm>
          <a:off x="0" y="0"/>
          <a:ext cx="0" cy="0"/>
          <a:chOff x="0" y="0"/>
          <a:chExt cx="0" cy="0"/>
        </a:xfrm>
      </p:grpSpPr>
      <p:sp>
        <p:nvSpPr>
          <p:cNvPr id="346" name="Google Shape;346;p3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00090"/>
              </a:buClr>
              <a:buSzPct val="100000"/>
              <a:buFont typeface="Arial"/>
              <a:buNone/>
            </a:pPr>
            <a:r>
              <a:rPr b="1" lang="en-ID" sz="3600">
                <a:solidFill>
                  <a:srgbClr val="000090"/>
                </a:solidFill>
              </a:rPr>
              <a:t>Class Activity</a:t>
            </a:r>
            <a:endParaRPr/>
          </a:p>
        </p:txBody>
      </p:sp>
      <p:cxnSp>
        <p:nvCxnSpPr>
          <p:cNvPr id="347" name="Google Shape;347;p3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48" name="Google Shape;348;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descr="blob:https://web.whatsapp.com/4be9237d-cfc1-462e-ba51-978e9348df04" id="349" name="Google Shape;349;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0" name="Google Shape;350;p30"/>
          <p:cNvSpPr/>
          <p:nvPr/>
        </p:nvSpPr>
        <p:spPr>
          <a:xfrm>
            <a:off x="460375" y="831273"/>
            <a:ext cx="8374867" cy="29546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ID" sz="1600" u="none" cap="none" strike="noStrike">
                <a:solidFill>
                  <a:schemeClr val="dk1"/>
                </a:solidFill>
                <a:latin typeface="Calibri"/>
                <a:ea typeface="Calibri"/>
                <a:cs typeface="Calibri"/>
                <a:sym typeface="Calibri"/>
              </a:rPr>
              <a:t>Modify the recipe class structure, the card, and the add recipe code so the recipe can have category (Indonesian, Japanese, Korean)</a:t>
            </a:r>
            <a:r>
              <a:rPr b="0" i="0" lang="en-ID" sz="1000" u="none" cap="none" strike="noStrike">
                <a:solidFill>
                  <a:srgbClr val="000000"/>
                </a:solidFill>
                <a:latin typeface="Arial"/>
                <a:ea typeface="Arial"/>
                <a:cs typeface="Arial"/>
                <a:sym typeface="Arial"/>
              </a:rPr>
              <a:t> </a:t>
            </a:r>
            <a:r>
              <a:rPr b="0" i="0" lang="en-ID" sz="1600" u="none" cap="none" strike="noStrike">
                <a:solidFill>
                  <a:schemeClr val="dk1"/>
                </a:solidFill>
                <a:latin typeface="Calibri"/>
                <a:ea typeface="Calibri"/>
                <a:cs typeface="Calibri"/>
                <a:sym typeface="Calibri"/>
              </a:rPr>
              <a:t>and food type (Vegetarian, and Non Vege), and Difficulty Level (Easy, Medium, and Difficult). Display difficulty level using different colors: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D" sz="1600" u="none" cap="none" strike="noStrike">
                <a:solidFill>
                  <a:schemeClr val="dk1"/>
                </a:solidFill>
                <a:latin typeface="Calibri"/>
                <a:ea typeface="Calibri"/>
                <a:cs typeface="Calibri"/>
                <a:sym typeface="Calibri"/>
              </a:rPr>
              <a:t>Easy → Green</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D" sz="1600" u="none" cap="none" strike="noStrike">
                <a:solidFill>
                  <a:schemeClr val="dk1"/>
                </a:solidFill>
                <a:latin typeface="Calibri"/>
                <a:ea typeface="Calibri"/>
                <a:cs typeface="Calibri"/>
                <a:sym typeface="Calibri"/>
              </a:rPr>
              <a:t>Medium → Yellow</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D" sz="1600" u="none" cap="none" strike="noStrike">
                <a:solidFill>
                  <a:schemeClr val="dk1"/>
                </a:solidFill>
                <a:latin typeface="Calibri"/>
                <a:ea typeface="Calibri"/>
                <a:cs typeface="Calibri"/>
                <a:sym typeface="Calibri"/>
              </a:rPr>
              <a:t>Difficult → Red</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D" sz="1600" u="none" cap="none" strike="noStrike">
                <a:solidFill>
                  <a:schemeClr val="dk1"/>
                </a:solidFill>
                <a:latin typeface="Calibri"/>
                <a:ea typeface="Calibri"/>
                <a:cs typeface="Calibri"/>
                <a:sym typeface="Calibri"/>
              </a:rPr>
              <a:t>Additional requirements: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D" sz="1600" u="none" cap="none" strike="noStrike">
                <a:solidFill>
                  <a:schemeClr val="dk1"/>
                </a:solidFill>
                <a:latin typeface="Calibri"/>
                <a:ea typeface="Calibri"/>
                <a:cs typeface="Calibri"/>
                <a:sym typeface="Calibri"/>
              </a:rPr>
              <a:t>Add a CheckBox for selecting food type.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D" sz="1600" u="none" cap="none" strike="noStrike">
                <a:solidFill>
                  <a:schemeClr val="dk1"/>
                </a:solidFill>
                <a:latin typeface="Calibri"/>
                <a:ea typeface="Calibri"/>
                <a:cs typeface="Calibri"/>
                <a:sym typeface="Calibri"/>
              </a:rPr>
              <a:t>Add a DropdownButton for selecting difficulty level.</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D" sz="1600" u="none" cap="none" strike="noStrike">
                <a:solidFill>
                  <a:schemeClr val="dk1"/>
                </a:solidFill>
                <a:latin typeface="Calibri"/>
                <a:ea typeface="Calibri"/>
                <a:cs typeface="Calibri"/>
                <a:sym typeface="Calibri"/>
              </a:rPr>
              <a:t>Display all information on the recipe card.</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br>
              <a:rPr b="0" i="0" lang="en-ID" sz="1600" u="none" cap="none" strike="noStrike">
                <a:solidFill>
                  <a:schemeClr val="dk1"/>
                </a:solidFill>
                <a:latin typeface="Calibri"/>
                <a:ea typeface="Calibri"/>
                <a:cs typeface="Calibri"/>
                <a:sym typeface="Calibri"/>
              </a:rPr>
            </a:br>
            <a:r>
              <a:rPr b="0" i="0" lang="en-ID" sz="1600" u="none" cap="none" strike="noStrike">
                <a:solidFill>
                  <a:schemeClr val="dk1"/>
                </a:solidFill>
                <a:latin typeface="Calibri"/>
                <a:ea typeface="Calibri"/>
                <a:cs typeface="Calibri"/>
                <a:sym typeface="Calibri"/>
              </a:rPr>
              <a:t>Modify also your Basket page. Add category, food type (only if it’s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ID" sz="1600" u="none" cap="none" strike="noStrike">
                <a:solidFill>
                  <a:schemeClr val="dk1"/>
                </a:solidFill>
                <a:latin typeface="Calibri"/>
                <a:ea typeface="Calibri"/>
                <a:cs typeface="Calibri"/>
                <a:sym typeface="Calibri"/>
              </a:rPr>
              <a:t>vegetarian), and difficulty level.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351" name="Google Shape;351;p30"/>
          <p:cNvSpPr txBox="1"/>
          <p:nvPr/>
        </p:nvSpPr>
        <p:spPr>
          <a:xfrm>
            <a:off x="6052457" y="1741714"/>
            <a:ext cx="2782800" cy="26781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chemeClr val="dk1"/>
                </a:solidFill>
                <a:latin typeface="Arial"/>
                <a:ea typeface="Arial"/>
                <a:cs typeface="Arial"/>
                <a:sym typeface="Arial"/>
              </a:rPr>
              <a:t>Example of using Checkbox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br>
              <a:rPr b="0" i="0" lang="en-ID" sz="1200" u="none" cap="none" strike="noStrike">
                <a:solidFill>
                  <a:srgbClr val="FF0000"/>
                </a:solidFill>
                <a:latin typeface="Arial"/>
                <a:ea typeface="Arial"/>
                <a:cs typeface="Arial"/>
                <a:sym typeface="Arial"/>
              </a:rPr>
            </a:br>
            <a:r>
              <a:rPr b="0" i="0" lang="en-ID" sz="1200" u="none" cap="none" strike="noStrike">
                <a:solidFill>
                  <a:srgbClr val="FF0000"/>
                </a:solidFill>
                <a:latin typeface="Consolas"/>
                <a:ea typeface="Consolas"/>
                <a:cs typeface="Consolas"/>
                <a:sym typeface="Consolas"/>
              </a:rPr>
              <a:t>Row(children: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Checkbox(</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checkColor: Colors.white,</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value: _isVegetarian,</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onChanged: (bool? value)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setState(()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_isVegetarian = value!;</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  const Text("Vegetarian")</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n-ID" sz="1200" u="none" cap="none" strike="noStrike">
                <a:solidFill>
                  <a:srgbClr val="FF0000"/>
                </a:solidFill>
                <a:latin typeface="Consolas"/>
                <a:ea typeface="Consolas"/>
                <a:cs typeface="Consolas"/>
                <a:sym typeface="Consolas"/>
              </a:rPr>
              <a:t>]),</a:t>
            </a:r>
            <a:endParaRPr b="0" i="0" sz="1200" u="none" cap="none" strike="noStrike">
              <a:solidFill>
                <a:srgbClr val="FF0000"/>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5" name="Shape 355"/>
        <p:cNvGrpSpPr/>
        <p:nvPr/>
      </p:nvGrpSpPr>
      <p:grpSpPr>
        <a:xfrm>
          <a:off x="0" y="0"/>
          <a:ext cx="0" cy="0"/>
          <a:chOff x="0" y="0"/>
          <a:chExt cx="0" cy="0"/>
        </a:xfrm>
      </p:grpSpPr>
      <p:sp>
        <p:nvSpPr>
          <p:cNvPr id="356" name="Google Shape;356;p31"/>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Blue-man-Questions-Comments" id="357" name="Google Shape;357;p31"/>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0x0101004CDBB0EA5517DF4B873B215CB2C55DE6</vt:lpwstr>
  </property>
</Properties>
</file>